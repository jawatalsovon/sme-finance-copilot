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we built the SME Finance Copilot. In ten minutes: the problem, our key insight, how the agent works, a demo, the security design, honest evaluation numbers, and where we go next. Everything shown uses synthetic or public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SME owner usually has several systems that never agree, and nobody reconciles them line by line. If you hand this to a general chatbot, two things go wrong: it can make up figures, and it can be manipulated into doing something harmful with money.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insight is simple: compare the books with independent evidence. On our hero synthetic business the books overstate cash by about 676 thousand yuan. The product explains where every part of that gap comes from. The number comes from our deterministic engine, not from the language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the owner asks, the agent picks a tool, code checks tier, company and arguments, the engine returns numbers with evidence, the agent explains. Anything that writes is a draft in an approval queue. There is simply no tool that pays, transfers or applies for credit.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Owner Brief: the first thing the owner sees. Right, Cash Truth: each account's book against verified balance, then findings grouped by cause, each with evidence rows and a balanced draft correction.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chat: numbers link to source rows. Ask it to transfer money and it refuses and logs it. Right, the approval queue: the agent queues a draft, only the owner can approve with a token, and the audit screen verifies the hash chain.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businesses with a seasonal cash dip we match public products and show rule by rule why each passes or fails, plus affordability using a conservative rate. It never applies for anything.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attack classes the judges test are each covered by a control and a test. The key idea: even a fooled model has nothing dangerous to call. Our sandbox run shows a refused transfer, a wrong-token approval refused, the owner approving, and the audit chain verifying.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synthetic data we know the truth, so we can measure. Recall on detectable problems is near 1. The lower overall recall is the shrinkage we cannot see by design. On real public payments data our duplicate detector finds 80 percent against 43 percent for the standard rule. And we say clearly: the forecast is about as good as naive baselines, not better.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between the sources and the owner is deterministic and auditable, except the language model, which sits inside the agent loop, receives redacted data, and cannot act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deepen connectors and add production authentication, then a self-hosted private mode where nothing leaves the business. We would welcome feedback and a pilot partner.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109728" cy="2377440"/>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920240"/>
            <a:ext cx="10058400" cy="1097280"/>
          </a:xfrm>
          <a:prstGeom prst="rect">
            <a:avLst/>
          </a:prstGeom>
          <a:noFill/>
        </p:spPr>
        <p:txBody>
          <a:bodyPr wrap="square">
            <a:spAutoFit/>
          </a:bodyPr>
          <a:lstStyle/>
          <a:p>
            <a:pPr>
              <a:spcAft>
                <a:spcPts val="1000"/>
              </a:spcAft>
              <a:defRPr sz="4800" b="1">
                <a:solidFill>
                  <a:srgbClr val="FFFFFF"/>
                </a:solidFill>
              </a:defRPr>
            </a:pPr>
            <a:r>
              <a:t>SME Finance Copilot</a:t>
            </a:r>
          </a:p>
        </p:txBody>
      </p:sp>
      <p:sp>
        <p:nvSpPr>
          <p:cNvPr id="5" name="TextBox 4"/>
          <p:cNvSpPr txBox="1"/>
          <p:nvPr/>
        </p:nvSpPr>
        <p:spPr>
          <a:xfrm>
            <a:off x="1097280" y="3017520"/>
            <a:ext cx="10058400" cy="2743200"/>
          </a:xfrm>
          <a:prstGeom prst="rect">
            <a:avLst/>
          </a:prstGeom>
          <a:noFill/>
        </p:spPr>
        <p:txBody>
          <a:bodyPr wrap="square">
            <a:spAutoFit/>
          </a:bodyPr>
          <a:lstStyle/>
          <a:p>
            <a:pPr>
              <a:spcAft>
                <a:spcPts val="1000"/>
              </a:spcAft>
              <a:defRPr sz="2200" b="0">
                <a:solidFill>
                  <a:srgbClr val="CBD5E1"/>
                </a:solidFill>
              </a:defRPr>
            </a:pPr>
            <a:r>
              <a:t>The cash you can prove, not just the cash in the books</a:t>
            </a:r>
          </a:p>
          <a:p>
            <a:pPr>
              <a:spcAft>
                <a:spcPts val="1000"/>
              </a:spcAft>
              <a:defRPr sz="2200" b="0">
                <a:solidFill>
                  <a:srgbClr val="CBD5E1"/>
                </a:solidFill>
              </a:defRPr>
            </a:pPr>
            <a:r>
              <a:t>Draft-only AI for small businesses. The owner approves, always.</a:t>
            </a:r>
          </a:p>
          <a:p>
            <a:pPr>
              <a:spcAft>
                <a:spcPts val="1000"/>
              </a:spcAft>
              <a:defRPr sz="2200" b="0">
                <a:solidFill>
                  <a:srgbClr val="CBD5E1"/>
                </a:solidFill>
              </a:defRPr>
            </a:pPr>
            <a:r>
              <a:t>FinTechathon 2026 | International Track | Topic E</a:t>
            </a:r>
          </a:p>
          <a:p>
            <a:pPr>
              <a:spcAft>
                <a:spcPts val="1000"/>
              </a:spcAft>
              <a:defRPr sz="2200" b="0">
                <a:solidFill>
                  <a:srgbClr val="CBD5E1"/>
                </a:solidFill>
              </a:defRPr>
            </a:pPr>
            <a:r>
              <a:t>[Team name] | [Presenter names]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The problem: small businesses fly blind</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4572000"/>
          </a:xfrm>
          <a:prstGeom prst="rect">
            <a:avLst/>
          </a:prstGeom>
          <a:noFill/>
        </p:spPr>
        <p:txBody>
          <a:bodyPr wrap="square">
            <a:spAutoFit/>
          </a:bodyPr>
          <a:lstStyle/>
          <a:p>
            <a:pPr>
              <a:spcAft>
                <a:spcPts val="1000"/>
              </a:spcAft>
              <a:defRPr sz="2200" b="0">
                <a:solidFill>
                  <a:srgbClr val="1F2937"/>
                </a:solidFill>
              </a:defRPr>
            </a:pPr>
            <a:r>
              <a:t>Books live in sheets, apps and heads; bank, wallet and marketplace data live elsewhere</a:t>
            </a:r>
          </a:p>
          <a:p>
            <a:pPr>
              <a:spcAft>
                <a:spcPts val="1000"/>
              </a:spcAft>
              <a:defRPr sz="2200" b="0">
                <a:solidFill>
                  <a:srgbClr val="1F2937"/>
                </a:solidFill>
              </a:defRPr>
            </a:pPr>
            <a:r>
              <a:t>Fees never booked, bills entered twice, receipts in the wrong account, stale FX rates</a:t>
            </a:r>
          </a:p>
          <a:p>
            <a:pPr>
              <a:spcAft>
                <a:spcPts val="1000"/>
              </a:spcAft>
              <a:defRPr sz="2200" b="0">
                <a:solidFill>
                  <a:srgbClr val="1F2937"/>
                </a:solidFill>
              </a:defRPr>
            </a:pPr>
            <a:r>
              <a:t>Owners decide on cash, hiring and loans from numbers that are wrong</a:t>
            </a:r>
          </a:p>
          <a:p>
            <a:pPr>
              <a:spcAft>
                <a:spcPts val="1000"/>
              </a:spcAft>
              <a:defRPr sz="2200" b="0">
                <a:solidFill>
                  <a:srgbClr val="1F2937"/>
                </a:solidFill>
              </a:defRPr>
            </a:pPr>
            <a:r>
              <a:t>A generic AI chat makes it worse: it can invent numbers and be talked into acting</a:t>
            </a:r>
          </a:p>
        </p:txBody>
      </p:sp>
      <p:sp>
        <p:nvSpPr>
          <p:cNvPr id="6" name="TextBox 5"/>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7" name="TextBox 6"/>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Insight: books versus reality</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4572000"/>
          </a:xfrm>
          <a:prstGeom prst="rect">
            <a:avLst/>
          </a:prstGeom>
          <a:noFill/>
        </p:spPr>
        <p:txBody>
          <a:bodyPr wrap="square">
            <a:spAutoFit/>
          </a:bodyPr>
          <a:lstStyle/>
          <a:p>
            <a:pPr>
              <a:spcAft>
                <a:spcPts val="1000"/>
              </a:spcAft>
              <a:defRPr sz="2200" b="0">
                <a:solidFill>
                  <a:srgbClr val="1F2937"/>
                </a:solidFill>
              </a:defRPr>
            </a:pPr>
            <a:r>
              <a:t>Books say what was recorded. Statements and settlements say what happened.</a:t>
            </a:r>
          </a:p>
          <a:p>
            <a:pPr>
              <a:spcAft>
                <a:spcPts val="1000"/>
              </a:spcAft>
              <a:defRPr sz="2200" b="0">
                <a:solidFill>
                  <a:srgbClr val="1F2937"/>
                </a:solidFill>
              </a:defRPr>
            </a:pPr>
            <a:r>
              <a:t>The gap between them is the most valuable number for an owner</a:t>
            </a:r>
          </a:p>
          <a:p>
            <a:pPr>
              <a:spcAft>
                <a:spcPts val="1000"/>
              </a:spcAft>
              <a:defRPr sz="2200" b="0">
                <a:solidFill>
                  <a:srgbClr val="1F2937"/>
                </a:solidFill>
              </a:defRPr>
            </a:pPr>
            <a:r>
              <a:t>Hero case, a Shenzhen cross-border seller (synthetic): the books show about CNY 676k more cash than can be proven</a:t>
            </a:r>
          </a:p>
          <a:p>
            <a:pPr>
              <a:spcAft>
                <a:spcPts val="1000"/>
              </a:spcAft>
              <a:defRPr sz="2200" b="0">
                <a:solidFill>
                  <a:srgbClr val="1F2937"/>
                </a:solidFill>
              </a:defRPr>
            </a:pPr>
            <a:r>
              <a:t>Every part of the gap is explained, line by line, with evidence</a:t>
            </a:r>
          </a:p>
        </p:txBody>
      </p:sp>
      <p:sp>
        <p:nvSpPr>
          <p:cNvPr id="6" name="TextBox 5"/>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7" name="TextBox 6"/>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Solution: an agent that analyses, not acts</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4572000"/>
          </a:xfrm>
          <a:prstGeom prst="rect">
            <a:avLst/>
          </a:prstGeom>
          <a:noFill/>
        </p:spPr>
        <p:txBody>
          <a:bodyPr wrap="square">
            <a:spAutoFit/>
          </a:bodyPr>
          <a:lstStyle/>
          <a:p>
            <a:pPr>
              <a:spcAft>
                <a:spcPts val="1000"/>
              </a:spcAft>
              <a:defRPr sz="2200" b="0">
                <a:solidFill>
                  <a:srgbClr val="1F2937"/>
                </a:solidFill>
              </a:defRPr>
            </a:pPr>
            <a:r>
              <a:t>A deterministic engine computes every number; the LLM only chooses tools and words</a:t>
            </a:r>
          </a:p>
          <a:p>
            <a:pPr>
              <a:spcAft>
                <a:spcPts val="1000"/>
              </a:spcAft>
              <a:defRPr sz="2200" b="0">
                <a:solidFill>
                  <a:srgbClr val="1F2937"/>
                </a:solidFill>
              </a:defRPr>
            </a:pPr>
            <a:r>
              <a:t>Tiers: T0 read | T1 analyse | T2 draft with owner approval | T3 capped low-risk</a:t>
            </a:r>
          </a:p>
          <a:p>
            <a:pPr>
              <a:spcAft>
                <a:spcPts val="1000"/>
              </a:spcAft>
              <a:defRPr sz="2200" b="0">
                <a:solidFill>
                  <a:srgbClr val="1F2937"/>
                </a:solidFill>
              </a:defRPr>
            </a:pPr>
            <a:r>
              <a:t>No money-moving tool exists. Corrections are drafts the owner approves</a:t>
            </a:r>
          </a:p>
          <a:p>
            <a:pPr>
              <a:spcAft>
                <a:spcPts val="1000"/>
              </a:spcAft>
              <a:defRPr sz="2200" b="0">
                <a:solidFill>
                  <a:srgbClr val="1F2937"/>
                </a:solidFill>
              </a:defRPr>
            </a:pPr>
            <a:r>
              <a:t>Answers cite evidence; unsupported numbers are flagged</a:t>
            </a:r>
          </a:p>
        </p:txBody>
      </p:sp>
      <p:sp>
        <p:nvSpPr>
          <p:cNvPr id="6" name="TextBox 5"/>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7" name="TextBox 6"/>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Demo: Owner Brief and Cash Truth</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914400"/>
          </a:xfrm>
          <a:prstGeom prst="rect">
            <a:avLst/>
          </a:prstGeom>
          <a:noFill/>
        </p:spPr>
        <p:txBody>
          <a:bodyPr wrap="square">
            <a:spAutoFit/>
          </a:bodyPr>
          <a:lstStyle/>
          <a:p>
            <a:pPr>
              <a:spcAft>
                <a:spcPts val="1000"/>
              </a:spcAft>
              <a:defRPr sz="1800" b="0">
                <a:solidFill>
                  <a:srgbClr val="1F2937"/>
                </a:solidFill>
              </a:defRPr>
            </a:pPr>
            <a:r>
              <a:t>Weekly brief: gap, alerts, KPIs, pending approvals.  Cash Truth: book vs verified by account, findings by cause with confidence.</a:t>
            </a:r>
          </a:p>
        </p:txBody>
      </p:sp>
      <p:pic>
        <p:nvPicPr>
          <p:cNvPr id="6" name="Picture 5" descr="brief.png"/>
          <p:cNvPicPr>
            <a:picLocks noChangeAspect="1"/>
          </p:cNvPicPr>
          <p:nvPr/>
        </p:nvPicPr>
        <p:blipFill>
          <a:blip r:embed="rId2"/>
          <a:stretch>
            <a:fillRect/>
          </a:stretch>
        </p:blipFill>
        <p:spPr>
          <a:xfrm>
            <a:off x="548640" y="2651760"/>
            <a:ext cx="5486400" cy="3086100"/>
          </a:xfrm>
          <a:prstGeom prst="rect">
            <a:avLst/>
          </a:prstGeom>
        </p:spPr>
      </p:pic>
      <p:pic>
        <p:nvPicPr>
          <p:cNvPr id="7" name="Picture 6" descr="cash-truth.png"/>
          <p:cNvPicPr>
            <a:picLocks noChangeAspect="1"/>
          </p:cNvPicPr>
          <p:nvPr/>
        </p:nvPicPr>
        <p:blipFill>
          <a:blip r:embed="rId3"/>
          <a:stretch>
            <a:fillRect/>
          </a:stretch>
        </p:blipFill>
        <p:spPr>
          <a:xfrm>
            <a:off x="6217920" y="2651760"/>
            <a:ext cx="5486400" cy="3086100"/>
          </a:xfrm>
          <a:prstGeom prst="rect">
            <a:avLst/>
          </a:prstGeom>
        </p:spPr>
      </p:pic>
      <p:sp>
        <p:nvSpPr>
          <p:cNvPr id="8" name="TextBox 7"/>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9" name="TextBox 8"/>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Demo: chat with evidence, approvals and audit</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914400"/>
          </a:xfrm>
          <a:prstGeom prst="rect">
            <a:avLst/>
          </a:prstGeom>
          <a:noFill/>
        </p:spPr>
        <p:txBody>
          <a:bodyPr wrap="square">
            <a:spAutoFit/>
          </a:bodyPr>
          <a:lstStyle/>
          <a:p>
            <a:pPr>
              <a:spcAft>
                <a:spcPts val="1000"/>
              </a:spcAft>
              <a:defRPr sz="1800" b="0">
                <a:solidFill>
                  <a:srgbClr val="1F2937"/>
                </a:solidFill>
              </a:defRPr>
            </a:pPr>
            <a:r>
              <a:t>Chat answers cite evidence and a transfer request is refused.  Drafts wait for the owner; every step is in a verifiable audit log.</a:t>
            </a:r>
          </a:p>
        </p:txBody>
      </p:sp>
      <p:pic>
        <p:nvPicPr>
          <p:cNvPr id="6" name="Picture 5" descr="chat-answer.png"/>
          <p:cNvPicPr>
            <a:picLocks noChangeAspect="1"/>
          </p:cNvPicPr>
          <p:nvPr/>
        </p:nvPicPr>
        <p:blipFill>
          <a:blip r:embed="rId2"/>
          <a:stretch>
            <a:fillRect/>
          </a:stretch>
        </p:blipFill>
        <p:spPr>
          <a:xfrm>
            <a:off x="548640" y="2651760"/>
            <a:ext cx="5486400" cy="3086100"/>
          </a:xfrm>
          <a:prstGeom prst="rect">
            <a:avLst/>
          </a:prstGeom>
        </p:spPr>
      </p:pic>
      <p:pic>
        <p:nvPicPr>
          <p:cNvPr id="7" name="Picture 6" descr="approvals.png"/>
          <p:cNvPicPr>
            <a:picLocks noChangeAspect="1"/>
          </p:cNvPicPr>
          <p:nvPr/>
        </p:nvPicPr>
        <p:blipFill>
          <a:blip r:embed="rId3"/>
          <a:stretch>
            <a:fillRect/>
          </a:stretch>
        </p:blipFill>
        <p:spPr>
          <a:xfrm>
            <a:off x="6217920" y="2651760"/>
            <a:ext cx="5486400" cy="3086100"/>
          </a:xfrm>
          <a:prstGeom prst="rect">
            <a:avLst/>
          </a:prstGeom>
        </p:spPr>
      </p:pic>
      <p:sp>
        <p:nvSpPr>
          <p:cNvPr id="8" name="TextBox 7"/>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9" name="TextBox 8"/>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Financing matching</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4754880" cy="4572000"/>
          </a:xfrm>
          <a:prstGeom prst="rect">
            <a:avLst/>
          </a:prstGeom>
          <a:noFill/>
        </p:spPr>
        <p:txBody>
          <a:bodyPr wrap="square">
            <a:spAutoFit/>
          </a:bodyPr>
          <a:lstStyle/>
          <a:p>
            <a:pPr>
              <a:spcAft>
                <a:spcPts val="1000"/>
              </a:spcAft>
              <a:defRPr sz="1800" b="0">
                <a:solidFill>
                  <a:srgbClr val="1F2937"/>
                </a:solidFill>
              </a:defRPr>
            </a:pPr>
            <a:r>
              <a:t>Public financing products with machine-checkable eligibility rules</a:t>
            </a:r>
          </a:p>
          <a:p>
            <a:pPr>
              <a:spcAft>
                <a:spcPts val="1000"/>
              </a:spcAft>
              <a:defRPr sz="1800" b="0">
                <a:solidFill>
                  <a:srgbClr val="1F2937"/>
                </a:solidFill>
              </a:defRPr>
            </a:pPr>
            <a:r>
              <a:t>Facts computed from the data; what the books cannot show is marked to-confirm</a:t>
            </a:r>
          </a:p>
          <a:p>
            <a:pPr>
              <a:spcAft>
                <a:spcPts val="1000"/>
              </a:spcAft>
              <a:defRPr sz="1800" b="0">
                <a:solidFill>
                  <a:srgbClr val="1F2937"/>
                </a:solidFill>
              </a:defRPr>
            </a:pPr>
            <a:r>
              <a:t>Affordability: loan sized to the forecast shortfall; DSCR of 1.25 or more = affordable</a:t>
            </a:r>
          </a:p>
          <a:p>
            <a:pPr>
              <a:spcAft>
                <a:spcPts val="1000"/>
              </a:spcAft>
              <a:defRPr sz="1800" b="0">
                <a:solidFill>
                  <a:srgbClr val="1F2937"/>
                </a:solidFill>
              </a:defRPr>
            </a:pPr>
            <a:r>
              <a:t>Illustrative only. The system never applies.</a:t>
            </a:r>
          </a:p>
        </p:txBody>
      </p:sp>
      <p:pic>
        <p:nvPicPr>
          <p:cNvPr id="6" name="Picture 5" descr="financing.png"/>
          <p:cNvPicPr>
            <a:picLocks noChangeAspect="1"/>
          </p:cNvPicPr>
          <p:nvPr/>
        </p:nvPicPr>
        <p:blipFill>
          <a:blip r:embed="rId2"/>
          <a:stretch>
            <a:fillRect/>
          </a:stretch>
        </p:blipFill>
        <p:spPr>
          <a:xfrm>
            <a:off x="5577840" y="1554480"/>
            <a:ext cx="6309360" cy="3549015"/>
          </a:xfrm>
          <a:prstGeom prst="rect">
            <a:avLst/>
          </a:prstGeom>
        </p:spPr>
      </p:pic>
      <p:sp>
        <p:nvSpPr>
          <p:cNvPr id="7" name="TextBox 6"/>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8" name="TextBox 7"/>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Security by design</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4572000"/>
          </a:xfrm>
          <a:prstGeom prst="rect">
            <a:avLst/>
          </a:prstGeom>
          <a:noFill/>
        </p:spPr>
        <p:txBody>
          <a:bodyPr wrap="square">
            <a:spAutoFit/>
          </a:bodyPr>
          <a:lstStyle/>
          <a:p>
            <a:pPr>
              <a:spcAft>
                <a:spcPts val="1000"/>
              </a:spcAft>
              <a:defRPr sz="2200" b="0">
                <a:solidFill>
                  <a:srgbClr val="1F2937"/>
                </a:solidFill>
              </a:defRPr>
            </a:pPr>
            <a:r>
              <a:t>Model not trusted: tiers enforced in code, outside the model</a:t>
            </a:r>
          </a:p>
          <a:p>
            <a:pPr>
              <a:spcAft>
                <a:spcPts val="1000"/>
              </a:spcAft>
              <a:defRPr sz="2200" b="0">
                <a:solidFill>
                  <a:srgbClr val="1F2937"/>
                </a:solidFill>
              </a:defRPr>
            </a:pPr>
            <a:r>
              <a:t>Owner-only approval with token; payload hashed and re-verified; the agent cannot approve</a:t>
            </a:r>
          </a:p>
          <a:p>
            <a:pPr>
              <a:spcAft>
                <a:spcPts val="1000"/>
              </a:spcAft>
              <a:defRPr sz="2200" b="0">
                <a:solidFill>
                  <a:srgbClr val="1F2937"/>
                </a:solidFill>
              </a:defRPr>
            </a:pPr>
            <a:r>
              <a:t>Hash-chained audit log, verifiable at /audit/verify</a:t>
            </a:r>
          </a:p>
          <a:p>
            <a:pPr>
              <a:spcAft>
                <a:spcPts val="1000"/>
              </a:spcAft>
              <a:defRPr sz="2200" b="0">
                <a:solidFill>
                  <a:srgbClr val="1F2937"/>
                </a:solidFill>
              </a:defRPr>
            </a:pPr>
            <a:r>
              <a:t>PII redacted before the LLM; injection flagged and enclosed; company scoping; cost cap</a:t>
            </a:r>
          </a:p>
          <a:p>
            <a:pPr>
              <a:spcAft>
                <a:spcPts val="1000"/>
              </a:spcAft>
              <a:defRPr sz="2200" b="0">
                <a:solidFill>
                  <a:srgbClr val="1F2937"/>
                </a:solidFill>
              </a:defRPr>
            </a:pPr>
            <a:r>
              <a:t>65 security tests: induced transfer, data extraction, privilege escalation, prompt injection</a:t>
            </a:r>
          </a:p>
        </p:txBody>
      </p:sp>
      <p:sp>
        <p:nvSpPr>
          <p:cNvPr id="6" name="TextBox 5"/>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7" name="TextBox 6"/>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Evaluation: honest numbers</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4572000"/>
          </a:xfrm>
          <a:prstGeom prst="rect">
            <a:avLst/>
          </a:prstGeom>
          <a:noFill/>
        </p:spPr>
        <p:txBody>
          <a:bodyPr wrap="square">
            <a:spAutoFit/>
          </a:bodyPr>
          <a:lstStyle/>
          <a:p>
            <a:pPr>
              <a:spcAft>
                <a:spcPts val="1000"/>
              </a:spcAft>
              <a:defRPr sz="2200" b="0">
                <a:solidFill>
                  <a:srgbClr val="1F2937"/>
                </a:solidFill>
              </a:defRPr>
            </a:pPr>
            <a:r>
              <a:t>Synthetic SMEs with exact answer keys (bd / cn / uk):</a:t>
            </a:r>
          </a:p>
          <a:p>
            <a:pPr>
              <a:spcAft>
                <a:spcPts val="1000"/>
              </a:spcAft>
              <a:defRPr sz="2200" b="0">
                <a:solidFill>
                  <a:srgbClr val="1F2937"/>
                </a:solidFill>
              </a:defRPr>
            </a:pPr>
            <a:r>
              <a:t>   Recall on detectable problems 0.98 / 0.98 / 1.00; precision 0.98 / 0.99 / 0.99</a:t>
            </a:r>
          </a:p>
          <a:p>
            <a:pPr>
              <a:spcAft>
                <a:spcPts val="1000"/>
              </a:spcAft>
              <a:defRPr sz="2200" b="0">
                <a:solidFill>
                  <a:srgbClr val="1F2937"/>
                </a:solidFill>
              </a:defRPr>
            </a:pPr>
            <a:r>
              <a:t>   Overall recall 0.84 / 0.87 / 0.83 (inventory shrinkage is invisible to any source)</a:t>
            </a:r>
          </a:p>
          <a:p>
            <a:pPr>
              <a:spcAft>
                <a:spcPts val="1000"/>
              </a:spcAft>
              <a:defRPr sz="2200" b="0">
                <a:solidFill>
                  <a:srgbClr val="1F2937"/>
                </a:solidFill>
              </a:defRPr>
            </a:pPr>
            <a:r>
              <a:t>   Gap equals the answer key to the cent; books-basis P&amp;L matches to the cent</a:t>
            </a:r>
          </a:p>
          <a:p>
            <a:pPr>
              <a:spcAft>
                <a:spcPts val="1000"/>
              </a:spcAft>
              <a:defRPr sz="2200" b="0">
                <a:solidFill>
                  <a:srgbClr val="1F2937"/>
                </a:solidFill>
              </a:defRPr>
            </a:pPr>
            <a:r>
              <a:t>Real public data: duplicate-payment recall 0.80 vs 0.43 for the standard rule (350 injected errors in 18,719 real UK council payments)</a:t>
            </a:r>
          </a:p>
          <a:p>
            <a:pPr>
              <a:spcAft>
                <a:spcPts val="1000"/>
              </a:spcAft>
              <a:defRPr sz="2200" b="0">
                <a:solidFill>
                  <a:srgbClr val="1F2937"/>
                </a:solidFill>
              </a:defRPr>
            </a:pPr>
            <a:r>
              <a:t>Forecast: roughly level with naive baselines. We do not oversell it.</a:t>
            </a:r>
          </a:p>
        </p:txBody>
      </p:sp>
      <p:sp>
        <p:nvSpPr>
          <p:cNvPr id="6" name="TextBox 5"/>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7" name="TextBox 6"/>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Architecture</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4572000"/>
          </a:xfrm>
          <a:prstGeom prst="rect">
            <a:avLst/>
          </a:prstGeom>
          <a:noFill/>
        </p:spPr>
        <p:txBody>
          <a:bodyPr wrap="square">
            <a:spAutoFit/>
          </a:bodyPr>
          <a:lstStyle/>
          <a:p>
            <a:pPr>
              <a:spcAft>
                <a:spcPts val="1000"/>
              </a:spcAft>
              <a:defRPr sz="2200" b="0">
                <a:solidFill>
                  <a:srgbClr val="1F2937"/>
                </a:solidFill>
              </a:defRPr>
            </a:pPr>
            <a:r>
              <a:t>Sources -&gt; loaders with lineage -&gt; DuckDB ledger -&gt; deterministic engine</a:t>
            </a:r>
          </a:p>
          <a:p>
            <a:pPr>
              <a:spcAft>
                <a:spcPts val="1000"/>
              </a:spcAft>
              <a:defRPr sz="2200" b="0">
                <a:solidFill>
                  <a:srgbClr val="1F2937"/>
                </a:solidFill>
              </a:defRPr>
            </a:pPr>
            <a:r>
              <a:t>Tool registry + executor (tiers) -&gt; agent loop &lt;-&gt; LLM (mock by default, redacted input)</a:t>
            </a:r>
          </a:p>
          <a:p>
            <a:pPr>
              <a:spcAft>
                <a:spcPts val="1000"/>
              </a:spcAft>
              <a:defRPr sz="2200" b="0">
                <a:solidFill>
                  <a:srgbClr val="1F2937"/>
                </a:solidFill>
              </a:defRPr>
            </a:pPr>
            <a:r>
              <a:t>Approval queue -&gt; drafts / connector sandbox -&gt; hash-chained audit</a:t>
            </a:r>
          </a:p>
          <a:p>
            <a:pPr>
              <a:spcAft>
                <a:spcPts val="1000"/>
              </a:spcAft>
              <a:defRPr sz="2200" b="0">
                <a:solidFill>
                  <a:srgbClr val="1F2937"/>
                </a:solidFill>
              </a:defRPr>
            </a:pPr>
            <a:r>
              <a:t>FastAPI backend | Next.js owner app | about 240 tests</a:t>
            </a:r>
          </a:p>
        </p:txBody>
      </p:sp>
      <p:sp>
        <p:nvSpPr>
          <p:cNvPr id="6" name="TextBox 5"/>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7" name="TextBox 6"/>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pPr>
              <a:spcAft>
                <a:spcPts val="1000"/>
              </a:spcAft>
              <a:defRPr sz="3400" b="1">
                <a:solidFill>
                  <a:srgbClr val="122B45"/>
                </a:solidFill>
              </a:defRPr>
            </a:pPr>
            <a:r>
              <a:t>Roadmap and ask</a:t>
            </a:r>
          </a:p>
        </p:txBody>
      </p:sp>
      <p:sp>
        <p:nvSpPr>
          <p:cNvPr id="4" name="Rectangle 3"/>
          <p:cNvSpPr/>
          <p:nvPr/>
        </p:nvSpPr>
        <p:spPr>
          <a:xfrm>
            <a:off x="548640" y="1143000"/>
            <a:ext cx="1097280" cy="54864"/>
          </a:xfrm>
          <a:prstGeom prst="rect">
            <a:avLst/>
          </a:prstGeom>
          <a:solidFill>
            <a:srgbClr val="0E9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4572000"/>
          </a:xfrm>
          <a:prstGeom prst="rect">
            <a:avLst/>
          </a:prstGeom>
          <a:noFill/>
        </p:spPr>
        <p:txBody>
          <a:bodyPr wrap="square">
            <a:spAutoFit/>
          </a:bodyPr>
          <a:lstStyle/>
          <a:p>
            <a:pPr>
              <a:spcAft>
                <a:spcPts val="1000"/>
              </a:spcAft>
              <a:defRPr sz="2200" b="0">
                <a:solidFill>
                  <a:srgbClr val="1F2937"/>
                </a:solidFill>
              </a:defRPr>
            </a:pPr>
            <a:r>
              <a:t>Now: sandbox connectors (QuickBooks, files, Sheets, POS), 3 demo SMEs</a:t>
            </a:r>
          </a:p>
          <a:p>
            <a:pPr>
              <a:spcAft>
                <a:spcPts val="1000"/>
              </a:spcAft>
              <a:defRPr sz="2200" b="0">
                <a:solidFill>
                  <a:srgbClr val="1F2937"/>
                </a:solidFill>
              </a:defRPr>
            </a:pPr>
            <a:r>
              <a:t>Next: more connectors and bank feeds, per-user auth and tenant isolation, OCR for paper documents</a:t>
            </a:r>
          </a:p>
          <a:p>
            <a:pPr>
              <a:spcAft>
                <a:spcPts val="1000"/>
              </a:spcAft>
              <a:defRPr sz="2200" b="0">
                <a:solidFill>
                  <a:srgbClr val="1F2937"/>
                </a:solidFill>
              </a:defRPr>
            </a:pPr>
            <a:r>
              <a:t>Private self-hosted mode with a local model: no data leaves the business</a:t>
            </a:r>
          </a:p>
          <a:p>
            <a:pPr>
              <a:spcAft>
                <a:spcPts val="1000"/>
              </a:spcAft>
              <a:defRPr sz="2200" b="0">
                <a:solidFill>
                  <a:srgbClr val="1F2937"/>
                </a:solidFill>
              </a:defRPr>
            </a:pPr>
            <a:r>
              <a:t>Team: [names, universities]  |  Ask: feedback and a pilot partner</a:t>
            </a:r>
          </a:p>
          <a:p>
            <a:pPr>
              <a:spcAft>
                <a:spcPts val="1000"/>
              </a:spcAft>
              <a:defRPr sz="2200" b="0">
                <a:solidFill>
                  <a:srgbClr val="1F2937"/>
                </a:solidFill>
              </a:defRPr>
            </a:pPr>
            <a:r>
              <a:t>Code, docs and evidence are in the repository</a:t>
            </a:r>
          </a:p>
        </p:txBody>
      </p:sp>
      <p:sp>
        <p:nvSpPr>
          <p:cNvPr id="6" name="TextBox 5"/>
          <p:cNvSpPr txBox="1"/>
          <p:nvPr/>
        </p:nvSpPr>
        <p:spPr>
          <a:xfrm>
            <a:off x="548640" y="6400800"/>
            <a:ext cx="8229600" cy="365760"/>
          </a:xfrm>
          <a:prstGeom prst="rect">
            <a:avLst/>
          </a:prstGeom>
          <a:noFill/>
        </p:spPr>
        <p:txBody>
          <a:bodyPr wrap="square">
            <a:spAutoFit/>
          </a:bodyPr>
          <a:lstStyle/>
          <a:p>
            <a:pPr>
              <a:spcAft>
                <a:spcPts val="1000"/>
              </a:spcAft>
              <a:defRPr sz="1100" b="0">
                <a:solidFill>
                  <a:srgbClr val="6B7280"/>
                </a:solidFill>
              </a:defRPr>
            </a:pPr>
            <a:r>
              <a:t>SME Finance Copilot | synthetic and public data only</a:t>
            </a:r>
          </a:p>
        </p:txBody>
      </p:sp>
      <p:sp>
        <p:nvSpPr>
          <p:cNvPr id="7" name="TextBox 6"/>
          <p:cNvSpPr txBox="1"/>
          <p:nvPr/>
        </p:nvSpPr>
        <p:spPr>
          <a:xfrm>
            <a:off x="11155680" y="6400800"/>
            <a:ext cx="731520" cy="365760"/>
          </a:xfrm>
          <a:prstGeom prst="rect">
            <a:avLst/>
          </a:prstGeom>
          <a:noFill/>
        </p:spPr>
        <p:txBody>
          <a:bodyPr wrap="square">
            <a:spAutoFit/>
          </a:bodyPr>
          <a:lstStyle/>
          <a:p>
            <a:pPr>
              <a:spcAft>
                <a:spcPts val="1000"/>
              </a:spcAft>
              <a:defRPr sz="1100" b="0">
                <a:solidFill>
                  <a:srgbClr val="6B7280"/>
                </a:solidFill>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