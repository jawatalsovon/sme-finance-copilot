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Inter Bold" charset="1" panose="02000503000000020004"/>
      <p:regular r:id="rId20"/>
    </p:embeddedFont>
    <p:embeddedFont>
      <p:font typeface="Inter" charset="1" panose="02000503000000020004"/>
      <p:regular r:id="rId21"/>
    </p:embeddedFont>
    <p:embeddedFont>
      <p:font typeface="Arimo" charset="1" panose="020B0604020202020204"/>
      <p:regular r:id="rId22"/>
    </p:embeddedFont>
    <p:embeddedFont>
      <p:font typeface="Arimo Bold" charset="1" panose="020B070402020202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fonts/font32.fntdata" Type="http://schemas.openxmlformats.org/officeDocument/2006/relationships/font"/><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we built the SME Finance Copilot. In ten minutes: the problem, our key insight, how the agent works, a demo, the security design, honest evaluation numbers, and where we go next. Everything shown uses synthetic or public data.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 SME owner usually has several systems that never agree, and nobody reconciles them line by line. If you hand this to a general chatbot, two things go wrong: it can make up figures, and it can be manipulated into doing something harmful with money.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insight is simple: compare the books with independent evidence. On our hero synthetic business the books overstate cash by about 676 thousand yuan. The product explains where every part of that gap comes from. The number comes from our deterministic engine, not from the language model.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loop: the owner asks, the agent picks a tool, code checks tier, company and arguments, the engine returns numbers with evidence, the agent explains. Anything that writes is a draft in an approval queue. There is simply no tool that pays, transfers or applies for credit.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the Owner Brief: the first thing the owner sees. Right, Cash Truth: each account's book against verified balance, then findings grouped by cause, each with evidence rows and a balanced draft correction.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the chat: numbers link to source rows. Ask it to transfer money and it refuses and logs it. Right, the approval queue: the agent queues a draft, only the owner can approve with a token, and the audit screen verifies the hash chain.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 businesses with a seasonal cash dip we match public products and show rule by rule why each passes or fails, plus affordability using a conservative rate. It never applies for anything.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four attack classes the judges test are each covered by a control and a test. The key idea: even a fooled model has nothing dangerous to call. Our sandbox run shows a refused transfer, a wrong-token approval refused, the owner approving, and the audit chain verifying.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 synthetic data we know the truth, so we can measure. Recall on detectable problems is near 1. The lower overall recall is the shrinkage we cannot see by design. On real public payments data our duplicate detector finds 80 percent against 43 percent for the standard rule. And we say clearly: the forecast is about as good as naive baselines, not better.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Everything between the sources and the owner is deterministic and auditable, except the language model, which sits inside the agent loop, receives redacted data, and cannot act on its own.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Next we deepen connectors and add production authentication, then a self-hosted private mode where nothing leaves the business. We would welcome feedback and a pilot partner. Thank you.</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grpSp>
        <p:nvGrpSpPr>
          <p:cNvPr name="Group 2" id="2"/>
          <p:cNvGrpSpPr/>
          <p:nvPr/>
        </p:nvGrpSpPr>
        <p:grpSpPr>
          <a:xfrm rot="0">
            <a:off x="14287500" y="0"/>
            <a:ext cx="4000500" cy="10287000"/>
            <a:chOff x="0" y="0"/>
            <a:chExt cx="5334000" cy="13716000"/>
          </a:xfrm>
        </p:grpSpPr>
        <p:sp>
          <p:nvSpPr>
            <p:cNvPr name="Freeform 3" id="3"/>
            <p:cNvSpPr/>
            <p:nvPr/>
          </p:nvSpPr>
          <p:spPr>
            <a:xfrm flipH="false" flipV="false" rot="0">
              <a:off x="0" y="0"/>
              <a:ext cx="5334000" cy="13716000"/>
            </a:xfrm>
            <a:custGeom>
              <a:avLst/>
              <a:gdLst/>
              <a:ahLst/>
              <a:cxnLst/>
              <a:rect r="r" b="b" t="t" l="l"/>
              <a:pathLst>
                <a:path h="13716000" w="5334000">
                  <a:moveTo>
                    <a:pt x="0" y="0"/>
                  </a:moveTo>
                  <a:lnTo>
                    <a:pt x="5334000" y="0"/>
                  </a:lnTo>
                  <a:lnTo>
                    <a:pt x="5334000" y="13716000"/>
                  </a:lnTo>
                  <a:lnTo>
                    <a:pt x="0" y="13716000"/>
                  </a:lnTo>
                  <a:close/>
                </a:path>
              </a:pathLst>
            </a:custGeom>
            <a:solidFill>
              <a:srgbClr val="14B8A6">
                <a:alpha val="17647"/>
              </a:srgbClr>
            </a:solidFill>
            <a:ln cap="sq">
              <a:noFill/>
              <a:prstDash val="solid"/>
              <a:miter/>
            </a:ln>
          </p:spPr>
        </p:sp>
        <p:sp>
          <p:nvSpPr>
            <p:cNvPr name="TextBox 4" id="4"/>
            <p:cNvSpPr txBox="true"/>
            <p:nvPr/>
          </p:nvSpPr>
          <p:spPr>
            <a:xfrm>
              <a:off x="0" y="-38100"/>
              <a:ext cx="5334000" cy="13754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143000" y="1562100"/>
            <a:ext cx="11906250" cy="1054608"/>
          </a:xfrm>
          <a:prstGeom prst="rect">
            <a:avLst/>
          </a:prstGeom>
        </p:spPr>
        <p:txBody>
          <a:bodyPr anchor="t" rtlCol="false" tIns="0" lIns="0" bIns="0" rIns="0">
            <a:spAutoFit/>
          </a:bodyPr>
          <a:lstStyle/>
          <a:p>
            <a:pPr algn="l">
              <a:lnSpc>
                <a:spcPts val="7956"/>
              </a:lnSpc>
            </a:pPr>
            <a:r>
              <a:rPr lang="en-US" sz="7800" b="true">
                <a:solidFill>
                  <a:srgbClr val="F8FAFC"/>
                </a:solidFill>
                <a:latin typeface="Inter Bold"/>
                <a:ea typeface="Inter Bold"/>
                <a:cs typeface="Inter Bold"/>
                <a:sym typeface="Inter Bold"/>
              </a:rPr>
              <a:t>SME Finance Copilot</a:t>
            </a:r>
          </a:p>
        </p:txBody>
      </p:sp>
      <p:grpSp>
        <p:nvGrpSpPr>
          <p:cNvPr name="Group 6" id="6"/>
          <p:cNvGrpSpPr/>
          <p:nvPr/>
        </p:nvGrpSpPr>
        <p:grpSpPr>
          <a:xfrm rot="0">
            <a:off x="1143000" y="4381500"/>
            <a:ext cx="1333500" cy="76200"/>
            <a:chOff x="0" y="0"/>
            <a:chExt cx="1778000" cy="101600"/>
          </a:xfrm>
        </p:grpSpPr>
        <p:sp>
          <p:nvSpPr>
            <p:cNvPr name="Freeform 7" id="7"/>
            <p:cNvSpPr/>
            <p:nvPr/>
          </p:nvSpPr>
          <p:spPr>
            <a:xfrm flipH="false" flipV="false" rot="0">
              <a:off x="0" y="0"/>
              <a:ext cx="1778000" cy="101600"/>
            </a:xfrm>
            <a:custGeom>
              <a:avLst/>
              <a:gdLst/>
              <a:ahLst/>
              <a:cxnLst/>
              <a:rect r="r" b="b" t="t" l="l"/>
              <a:pathLst>
                <a:path h="101600" w="1778000">
                  <a:moveTo>
                    <a:pt x="0" y="0"/>
                  </a:moveTo>
                  <a:lnTo>
                    <a:pt x="1778000" y="0"/>
                  </a:lnTo>
                  <a:lnTo>
                    <a:pt x="1778000" y="101600"/>
                  </a:lnTo>
                  <a:lnTo>
                    <a:pt x="0" y="101600"/>
                  </a:lnTo>
                  <a:close/>
                </a:path>
              </a:pathLst>
            </a:custGeom>
            <a:solidFill>
              <a:srgbClr val="14B8A6"/>
            </a:solidFill>
            <a:ln cap="sq">
              <a:noFill/>
              <a:prstDash val="solid"/>
              <a:miter/>
            </a:ln>
          </p:spPr>
        </p:sp>
        <p:sp>
          <p:nvSpPr>
            <p:cNvPr name="TextBox 8" id="8"/>
            <p:cNvSpPr txBox="true"/>
            <p:nvPr/>
          </p:nvSpPr>
          <p:spPr>
            <a:xfrm>
              <a:off x="0" y="-38100"/>
              <a:ext cx="1778000" cy="1397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1143000" y="4829175"/>
            <a:ext cx="10668000" cy="531495"/>
          </a:xfrm>
          <a:prstGeom prst="rect">
            <a:avLst/>
          </a:prstGeom>
        </p:spPr>
        <p:txBody>
          <a:bodyPr anchor="t" rtlCol="false" tIns="0" lIns="0" bIns="0" rIns="0">
            <a:spAutoFit/>
          </a:bodyPr>
          <a:lstStyle/>
          <a:p>
            <a:pPr algn="l">
              <a:lnSpc>
                <a:spcPts val="4125"/>
              </a:lnSpc>
            </a:pPr>
            <a:r>
              <a:rPr lang="en-US" sz="3300">
                <a:solidFill>
                  <a:srgbClr val="F8FAFC"/>
                </a:solidFill>
                <a:latin typeface="Inter"/>
                <a:ea typeface="Inter"/>
                <a:cs typeface="Inter"/>
                <a:sym typeface="Inter"/>
              </a:rPr>
              <a:t>The cash you can prove, not just the cash in the books</a:t>
            </a:r>
          </a:p>
        </p:txBody>
      </p:sp>
      <p:sp>
        <p:nvSpPr>
          <p:cNvPr name="TextBox 10" id="10"/>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F8FAFC"/>
                </a:solidFill>
                <a:latin typeface="Inter Bold"/>
                <a:ea typeface="Inter Bold"/>
                <a:cs typeface="Inter Bold"/>
                <a:sym typeface="Inter Bold"/>
              </a:rPr>
              <a:t>01</a:t>
            </a:r>
          </a:p>
        </p:txBody>
      </p:sp>
      <p:sp>
        <p:nvSpPr>
          <p:cNvPr name="TextBox 11" id="11"/>
          <p:cNvSpPr txBox="true"/>
          <p:nvPr/>
        </p:nvSpPr>
        <p:spPr>
          <a:xfrm rot="0">
            <a:off x="1143000" y="3086100"/>
            <a:ext cx="11906250" cy="440055"/>
          </a:xfrm>
          <a:prstGeom prst="rect">
            <a:avLst/>
          </a:prstGeom>
        </p:spPr>
        <p:txBody>
          <a:bodyPr anchor="t" rtlCol="false" tIns="0" lIns="0" bIns="0" rIns="0">
            <a:spAutoFit/>
          </a:bodyPr>
          <a:lstStyle/>
          <a:p>
            <a:pPr algn="l">
              <a:lnSpc>
                <a:spcPts val="3569"/>
              </a:lnSpc>
            </a:pPr>
            <a:r>
              <a:rPr lang="en-US" sz="2550">
                <a:solidFill>
                  <a:srgbClr val="14B8A6"/>
                </a:solidFill>
                <a:latin typeface="Arimo"/>
                <a:ea typeface="Arimo"/>
                <a:cs typeface="Arimo"/>
                <a:sym typeface="Arimo"/>
              </a:rPr>
              <a:t>The truth about your cash, and an agent you can trust to act on it.</a:t>
            </a:r>
          </a:p>
        </p:txBody>
      </p:sp>
      <p:sp>
        <p:nvSpPr>
          <p:cNvPr name="TextBox 12" id="12"/>
          <p:cNvSpPr txBox="true"/>
          <p:nvPr/>
        </p:nvSpPr>
        <p:spPr>
          <a:xfrm rot="0">
            <a:off x="1143000" y="6048375"/>
            <a:ext cx="11906250" cy="1514475"/>
          </a:xfrm>
          <a:prstGeom prst="rect">
            <a:avLst/>
          </a:prstGeom>
        </p:spPr>
        <p:txBody>
          <a:bodyPr anchor="t" rtlCol="false" tIns="0" lIns="0" bIns="0" rIns="0">
            <a:spAutoFit/>
          </a:bodyPr>
          <a:lstStyle/>
          <a:p>
            <a:pPr algn="l">
              <a:lnSpc>
                <a:spcPts val="4050"/>
              </a:lnSpc>
            </a:pPr>
            <a:r>
              <a:rPr lang="en-US" sz="2250">
                <a:solidFill>
                  <a:srgbClr val="F8FAFC"/>
                </a:solidFill>
                <a:latin typeface="Arimo"/>
                <a:ea typeface="Arimo"/>
                <a:cs typeface="Arimo"/>
                <a:sym typeface="Arimo"/>
              </a:rPr>
              <a:t>Draft-only AI for small businesses. The owner approves, always.</a:t>
            </a:r>
          </a:p>
          <a:p>
            <a:pPr algn="l">
              <a:lnSpc>
                <a:spcPts val="4050"/>
              </a:lnSpc>
            </a:pPr>
            <a:r>
              <a:rPr lang="en-US" sz="2250">
                <a:solidFill>
                  <a:srgbClr val="F8FAFC"/>
                </a:solidFill>
                <a:latin typeface="Arimo"/>
                <a:ea typeface="Arimo"/>
                <a:cs typeface="Arimo"/>
                <a:sym typeface="Arimo"/>
              </a:rPr>
              <a:t>FinTechathon 2026 | International Track | Topic E</a:t>
            </a:r>
          </a:p>
          <a:p>
            <a:pPr algn="l">
              <a:lnSpc>
                <a:spcPts val="4050"/>
              </a:lnSpc>
            </a:pPr>
            <a:r>
              <a:rPr lang="en-US" sz="2250">
                <a:solidFill>
                  <a:srgbClr val="F8FAFC"/>
                </a:solidFill>
                <a:latin typeface="Arimo"/>
                <a:ea typeface="Arimo"/>
                <a:cs typeface="Arimo"/>
                <a:sym typeface="Arimo"/>
              </a:rPr>
              <a:t>Team [TBD]</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The problem: small businesses fly blind</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02</a:t>
            </a:r>
          </a:p>
        </p:txBody>
      </p:sp>
      <p:sp>
        <p:nvSpPr>
          <p:cNvPr name="TextBox 7" id="7"/>
          <p:cNvSpPr txBox="true"/>
          <p:nvPr/>
        </p:nvSpPr>
        <p:spPr>
          <a:xfrm rot="0">
            <a:off x="1143000" y="2686050"/>
            <a:ext cx="14287500" cy="2404110"/>
          </a:xfrm>
          <a:prstGeom prst="rect">
            <a:avLst/>
          </a:prstGeom>
        </p:spPr>
        <p:txBody>
          <a:bodyPr anchor="t" rtlCol="false" tIns="0" lIns="0" bIns="0" rIns="0">
            <a:spAutoFit/>
          </a:bodyPr>
          <a:lstStyle/>
          <a:p>
            <a:pPr algn="l" marL="582930" indent="-291465" lvl="1">
              <a:lnSpc>
                <a:spcPts val="4860"/>
              </a:lnSpc>
              <a:buFont typeface="Arial"/>
              <a:buChar char="•"/>
            </a:pPr>
            <a:r>
              <a:rPr lang="en-US" sz="2700">
                <a:solidFill>
                  <a:srgbClr val="475569"/>
                </a:solidFill>
                <a:latin typeface="Arimo"/>
                <a:ea typeface="Arimo"/>
                <a:cs typeface="Arimo"/>
                <a:sym typeface="Arimo"/>
              </a:rPr>
              <a:t>Books live in sheets, apps and heads; bank, wallet and marketplace data live elsewhere</a:t>
            </a:r>
          </a:p>
          <a:p>
            <a:pPr algn="l" marL="582930" indent="-291465" lvl="1">
              <a:lnSpc>
                <a:spcPts val="4860"/>
              </a:lnSpc>
              <a:buFont typeface="Arial"/>
              <a:buChar char="•"/>
            </a:pPr>
            <a:r>
              <a:rPr lang="en-US" sz="2700">
                <a:solidFill>
                  <a:srgbClr val="475569"/>
                </a:solidFill>
                <a:latin typeface="Arimo"/>
                <a:ea typeface="Arimo"/>
                <a:cs typeface="Arimo"/>
                <a:sym typeface="Arimo"/>
              </a:rPr>
              <a:t>Fees never booked, bills entered twice, receipts in the wrong account, stale FX rates</a:t>
            </a:r>
          </a:p>
          <a:p>
            <a:pPr algn="l" marL="582930" indent="-291465" lvl="1">
              <a:lnSpc>
                <a:spcPts val="4860"/>
              </a:lnSpc>
              <a:buFont typeface="Arial"/>
              <a:buChar char="•"/>
            </a:pPr>
            <a:r>
              <a:rPr lang="en-US" sz="2700">
                <a:solidFill>
                  <a:srgbClr val="475569"/>
                </a:solidFill>
                <a:latin typeface="Arimo"/>
                <a:ea typeface="Arimo"/>
                <a:cs typeface="Arimo"/>
                <a:sym typeface="Arimo"/>
              </a:rPr>
              <a:t>Owners decide on cash, hiring and loans from numbers that are wrong</a:t>
            </a:r>
          </a:p>
          <a:p>
            <a:pPr algn="l" marL="582930" indent="-291465" lvl="1">
              <a:lnSpc>
                <a:spcPts val="4860"/>
              </a:lnSpc>
              <a:buFont typeface="Arial"/>
              <a:buChar char="•"/>
            </a:pPr>
            <a:r>
              <a:rPr lang="en-US" sz="2700">
                <a:solidFill>
                  <a:srgbClr val="475569"/>
                </a:solidFill>
                <a:latin typeface="Arimo"/>
                <a:ea typeface="Arimo"/>
                <a:cs typeface="Arimo"/>
                <a:sym typeface="Arimo"/>
              </a:rPr>
              <a:t>A generic AI chat makes it worse: it can invent numbers and be talked into acting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Insight: books versus reality</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143000" y="2466975"/>
            <a:ext cx="10477500" cy="1327785"/>
          </a:xfrm>
          <a:prstGeom prst="rect">
            <a:avLst/>
          </a:prstGeom>
        </p:spPr>
        <p:txBody>
          <a:bodyPr anchor="t" rtlCol="false" tIns="0" lIns="0" bIns="0" rIns="0">
            <a:spAutoFit/>
          </a:bodyPr>
          <a:lstStyle/>
          <a:p>
            <a:pPr algn="l">
              <a:lnSpc>
                <a:spcPts val="9900"/>
              </a:lnSpc>
            </a:pPr>
            <a:r>
              <a:rPr lang="en-US" sz="9900" b="true">
                <a:solidFill>
                  <a:srgbClr val="F59E0B"/>
                </a:solidFill>
                <a:latin typeface="Inter Bold"/>
                <a:ea typeface="Inter Bold"/>
                <a:cs typeface="Inter Bold"/>
                <a:sym typeface="Inter Bold"/>
              </a:rPr>
              <a:t>CNY 676k</a:t>
            </a:r>
          </a:p>
        </p:txBody>
      </p:sp>
      <p:sp>
        <p:nvSpPr>
          <p:cNvPr name="TextBox 7" id="7"/>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03</a:t>
            </a:r>
          </a:p>
        </p:txBody>
      </p:sp>
      <p:sp>
        <p:nvSpPr>
          <p:cNvPr name="TextBox 8" id="8"/>
          <p:cNvSpPr txBox="true"/>
          <p:nvPr/>
        </p:nvSpPr>
        <p:spPr>
          <a:xfrm rot="0">
            <a:off x="1143000" y="3943350"/>
            <a:ext cx="14287500" cy="440055"/>
          </a:xfrm>
          <a:prstGeom prst="rect">
            <a:avLst/>
          </a:prstGeom>
        </p:spPr>
        <p:txBody>
          <a:bodyPr anchor="t" rtlCol="false" tIns="0" lIns="0" bIns="0" rIns="0">
            <a:spAutoFit/>
          </a:bodyPr>
          <a:lstStyle/>
          <a:p>
            <a:pPr algn="l">
              <a:lnSpc>
                <a:spcPts val="3569"/>
              </a:lnSpc>
            </a:pPr>
            <a:r>
              <a:rPr lang="en-US" sz="2550">
                <a:solidFill>
                  <a:srgbClr val="475569"/>
                </a:solidFill>
                <a:latin typeface="Arimo"/>
                <a:ea typeface="Arimo"/>
                <a:cs typeface="Arimo"/>
                <a:sym typeface="Arimo"/>
              </a:rPr>
              <a:t>more cash in the books than can be proven. Hero case: a Shenzhen cross-border seller (synthetic)</a:t>
            </a:r>
          </a:p>
        </p:txBody>
      </p:sp>
      <p:sp>
        <p:nvSpPr>
          <p:cNvPr name="TextBox 9" id="9"/>
          <p:cNvSpPr txBox="true"/>
          <p:nvPr/>
        </p:nvSpPr>
        <p:spPr>
          <a:xfrm rot="0">
            <a:off x="1143000" y="5162550"/>
            <a:ext cx="14287500" cy="1794510"/>
          </a:xfrm>
          <a:prstGeom prst="rect">
            <a:avLst/>
          </a:prstGeom>
        </p:spPr>
        <p:txBody>
          <a:bodyPr anchor="t" rtlCol="false" tIns="0" lIns="0" bIns="0" rIns="0">
            <a:spAutoFit/>
          </a:bodyPr>
          <a:lstStyle/>
          <a:p>
            <a:pPr algn="l" marL="582930" indent="-291465" lvl="1">
              <a:lnSpc>
                <a:spcPts val="4860"/>
              </a:lnSpc>
              <a:buFont typeface="Arial"/>
              <a:buChar char="•"/>
            </a:pPr>
            <a:r>
              <a:rPr lang="en-US" sz="2700">
                <a:solidFill>
                  <a:srgbClr val="475569"/>
                </a:solidFill>
                <a:latin typeface="Arimo"/>
                <a:ea typeface="Arimo"/>
                <a:cs typeface="Arimo"/>
                <a:sym typeface="Arimo"/>
              </a:rPr>
              <a:t>Books say what was recorded. Statements and settlements say what happened.</a:t>
            </a:r>
          </a:p>
          <a:p>
            <a:pPr algn="l" marL="582930" indent="-291465" lvl="1">
              <a:lnSpc>
                <a:spcPts val="4860"/>
              </a:lnSpc>
              <a:buFont typeface="Arial"/>
              <a:buChar char="•"/>
            </a:pPr>
            <a:r>
              <a:rPr lang="en-US" sz="2700">
                <a:solidFill>
                  <a:srgbClr val="475569"/>
                </a:solidFill>
                <a:latin typeface="Arimo"/>
                <a:ea typeface="Arimo"/>
                <a:cs typeface="Arimo"/>
                <a:sym typeface="Arimo"/>
              </a:rPr>
              <a:t>The gap between them is the most valuable number for an owner</a:t>
            </a:r>
          </a:p>
          <a:p>
            <a:pPr algn="l" marL="582930" indent="-291465" lvl="1">
              <a:lnSpc>
                <a:spcPts val="4860"/>
              </a:lnSpc>
              <a:buFont typeface="Arial"/>
              <a:buChar char="•"/>
            </a:pPr>
            <a:r>
              <a:rPr lang="en-US" sz="2700">
                <a:solidFill>
                  <a:srgbClr val="475569"/>
                </a:solidFill>
                <a:latin typeface="Arimo"/>
                <a:ea typeface="Arimo"/>
                <a:cs typeface="Arimo"/>
                <a:sym typeface="Arimo"/>
              </a:rPr>
              <a:t>Every part of the gap is explained, line by line, with evidence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Solution: an agent that analyses, not acts</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143000" y="2762250"/>
            <a:ext cx="3143250" cy="1619250"/>
            <a:chOff x="0" y="0"/>
            <a:chExt cx="4191000" cy="2159000"/>
          </a:xfrm>
        </p:grpSpPr>
        <p:sp>
          <p:nvSpPr>
            <p:cNvPr name="Freeform 7" id="7"/>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sp>
        <p:sp>
          <p:nvSpPr>
            <p:cNvPr name="TextBox 8" id="8"/>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Bold"/>
                  <a:ea typeface="Inter Bold"/>
                  <a:cs typeface="Inter Bold"/>
                  <a:sym typeface="Inter Bold"/>
                </a:rPr>
                <a:t>T0 read</a:t>
              </a:r>
            </a:p>
          </p:txBody>
        </p:sp>
      </p:grpSp>
      <p:grpSp>
        <p:nvGrpSpPr>
          <p:cNvPr name="Group 9" id="9"/>
          <p:cNvGrpSpPr/>
          <p:nvPr/>
        </p:nvGrpSpPr>
        <p:grpSpPr>
          <a:xfrm rot="0">
            <a:off x="5191125" y="2762250"/>
            <a:ext cx="3143250" cy="1619250"/>
            <a:chOff x="0" y="0"/>
            <a:chExt cx="4191000" cy="2159000"/>
          </a:xfrm>
        </p:grpSpPr>
        <p:sp>
          <p:nvSpPr>
            <p:cNvPr name="Freeform 10" id="10"/>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sp>
        <p:sp>
          <p:nvSpPr>
            <p:cNvPr name="TextBox 11" id="11"/>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Bold"/>
                  <a:ea typeface="Inter Bold"/>
                  <a:cs typeface="Inter Bold"/>
                  <a:sym typeface="Inter Bold"/>
                </a:rPr>
                <a:t>T1 analyse</a:t>
              </a:r>
            </a:p>
          </p:txBody>
        </p:sp>
      </p:grpSp>
      <p:grpSp>
        <p:nvGrpSpPr>
          <p:cNvPr name="Group 12" id="12"/>
          <p:cNvGrpSpPr/>
          <p:nvPr/>
        </p:nvGrpSpPr>
        <p:grpSpPr>
          <a:xfrm rot="0">
            <a:off x="9239250" y="2762250"/>
            <a:ext cx="3143250" cy="1619250"/>
            <a:chOff x="0" y="0"/>
            <a:chExt cx="4191000" cy="2159000"/>
          </a:xfrm>
        </p:grpSpPr>
        <p:sp>
          <p:nvSpPr>
            <p:cNvPr name="Freeform 13" id="13"/>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14B8A6"/>
            </a:solidFill>
            <a:ln cap="rnd">
              <a:noFill/>
              <a:prstDash val="solid"/>
              <a:round/>
            </a:ln>
          </p:spPr>
        </p:sp>
        <p:sp>
          <p:nvSpPr>
            <p:cNvPr name="TextBox 14" id="14"/>
            <p:cNvSpPr txBox="true"/>
            <p:nvPr/>
          </p:nvSpPr>
          <p:spPr>
            <a:xfrm>
              <a:off x="0" y="-38100"/>
              <a:ext cx="4191000" cy="2197100"/>
            </a:xfrm>
            <a:prstGeom prst="rect">
              <a:avLst/>
            </a:prstGeom>
          </p:spPr>
          <p:txBody>
            <a:bodyPr anchor="ctr" rtlCol="false" tIns="50800" lIns="50800" bIns="50800" rIns="50800"/>
            <a:lstStyle/>
            <a:p>
              <a:pPr algn="ctr">
                <a:lnSpc>
                  <a:spcPts val="2625"/>
                </a:lnSpc>
              </a:pPr>
              <a:r>
                <a:rPr lang="en-US" sz="1875" b="true">
                  <a:solidFill>
                    <a:srgbClr val="0B1F3A"/>
                  </a:solidFill>
                  <a:latin typeface="Inter Bold"/>
                  <a:ea typeface="Inter Bold"/>
                  <a:cs typeface="Inter Bold"/>
                  <a:sym typeface="Inter Bold"/>
                </a:rPr>
                <a:t>T2 draft with owner approval</a:t>
              </a:r>
            </a:p>
          </p:txBody>
        </p:sp>
      </p:grpSp>
      <p:grpSp>
        <p:nvGrpSpPr>
          <p:cNvPr name="Group 15" id="15"/>
          <p:cNvGrpSpPr/>
          <p:nvPr/>
        </p:nvGrpSpPr>
        <p:grpSpPr>
          <a:xfrm rot="0">
            <a:off x="13287375" y="2762250"/>
            <a:ext cx="3143250" cy="1619250"/>
            <a:chOff x="0" y="0"/>
            <a:chExt cx="4191000" cy="2159000"/>
          </a:xfrm>
        </p:grpSpPr>
        <p:sp>
          <p:nvSpPr>
            <p:cNvPr name="Freeform 16" id="16"/>
            <p:cNvSpPr/>
            <p:nvPr/>
          </p:nvSpPr>
          <p:spPr>
            <a:xfrm flipH="false" flipV="false" rot="0">
              <a:off x="0" y="0"/>
              <a:ext cx="4191000" cy="2159000"/>
            </a:xfrm>
            <a:custGeom>
              <a:avLst/>
              <a:gdLst/>
              <a:ahLst/>
              <a:cxnLst/>
              <a:rect r="r" b="b" t="t" l="l"/>
              <a:pathLst>
                <a:path h="2159000" w="4191000">
                  <a:moveTo>
                    <a:pt x="107758" y="0"/>
                  </a:moveTo>
                  <a:lnTo>
                    <a:pt x="4083243" y="0"/>
                  </a:lnTo>
                  <a:cubicBezTo>
                    <a:pt x="4111821" y="0"/>
                    <a:pt x="4139230" y="11353"/>
                    <a:pt x="4159438" y="31561"/>
                  </a:cubicBezTo>
                  <a:cubicBezTo>
                    <a:pt x="4179647" y="51770"/>
                    <a:pt x="4191000" y="79178"/>
                    <a:pt x="4191000" y="107758"/>
                  </a:cubicBezTo>
                  <a:lnTo>
                    <a:pt x="4191000" y="2051242"/>
                  </a:lnTo>
                  <a:cubicBezTo>
                    <a:pt x="4191000" y="2079821"/>
                    <a:pt x="4179647" y="2107230"/>
                    <a:pt x="4159438" y="2127439"/>
                  </a:cubicBezTo>
                  <a:cubicBezTo>
                    <a:pt x="4139230" y="2147647"/>
                    <a:pt x="4111821" y="2159000"/>
                    <a:pt x="4083243" y="2159000"/>
                  </a:cubicBezTo>
                  <a:lnTo>
                    <a:pt x="107758" y="2159000"/>
                  </a:lnTo>
                  <a:cubicBezTo>
                    <a:pt x="79178" y="2159000"/>
                    <a:pt x="51770" y="2147647"/>
                    <a:pt x="31561" y="2127439"/>
                  </a:cubicBezTo>
                  <a:cubicBezTo>
                    <a:pt x="11353" y="2107230"/>
                    <a:pt x="0" y="2079821"/>
                    <a:pt x="0" y="2051242"/>
                  </a:cubicBezTo>
                  <a:lnTo>
                    <a:pt x="0" y="107758"/>
                  </a:lnTo>
                  <a:cubicBezTo>
                    <a:pt x="0" y="79178"/>
                    <a:pt x="11353" y="51770"/>
                    <a:pt x="31561" y="31561"/>
                  </a:cubicBezTo>
                  <a:cubicBezTo>
                    <a:pt x="51770" y="11353"/>
                    <a:pt x="79178" y="0"/>
                    <a:pt x="107758" y="0"/>
                  </a:cubicBezTo>
                  <a:close/>
                </a:path>
              </a:pathLst>
            </a:custGeom>
            <a:solidFill>
              <a:srgbClr val="0B1F3A"/>
            </a:solidFill>
            <a:ln cap="rnd">
              <a:noFill/>
              <a:prstDash val="solid"/>
              <a:round/>
            </a:ln>
          </p:spPr>
        </p:sp>
        <p:sp>
          <p:nvSpPr>
            <p:cNvPr name="TextBox 17" id="17"/>
            <p:cNvSpPr txBox="true"/>
            <p:nvPr/>
          </p:nvSpPr>
          <p:spPr>
            <a:xfrm>
              <a:off x="0" y="-38100"/>
              <a:ext cx="4191000" cy="2197100"/>
            </a:xfrm>
            <a:prstGeom prst="rect">
              <a:avLst/>
            </a:prstGeom>
          </p:spPr>
          <p:txBody>
            <a:bodyPr anchor="ctr" rtlCol="false" tIns="50800" lIns="50800" bIns="50800" rIns="50800"/>
            <a:lstStyle/>
            <a:p>
              <a:pPr algn="ctr">
                <a:lnSpc>
                  <a:spcPts val="2940"/>
                </a:lnSpc>
              </a:pPr>
              <a:r>
                <a:rPr lang="en-US" sz="2100" b="true">
                  <a:solidFill>
                    <a:srgbClr val="F8FAFC"/>
                  </a:solidFill>
                  <a:latin typeface="Inter Bold"/>
                  <a:ea typeface="Inter Bold"/>
                  <a:cs typeface="Inter Bold"/>
                  <a:sym typeface="Inter Bold"/>
                </a:rPr>
                <a:t>T3 capped low-risk</a:t>
              </a:r>
            </a:p>
          </p:txBody>
        </p:sp>
      </p:grpSp>
      <p:sp>
        <p:nvSpPr>
          <p:cNvPr name="TextBox 18" id="18"/>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04</a:t>
            </a:r>
          </a:p>
        </p:txBody>
      </p:sp>
      <p:sp>
        <p:nvSpPr>
          <p:cNvPr name="TextBox 19" id="19"/>
          <p:cNvSpPr txBox="true"/>
          <p:nvPr/>
        </p:nvSpPr>
        <p:spPr>
          <a:xfrm rot="0">
            <a:off x="1143000" y="4962525"/>
            <a:ext cx="15240000" cy="1906905"/>
          </a:xfrm>
          <a:prstGeom prst="rect">
            <a:avLst/>
          </a:prstGeom>
        </p:spPr>
        <p:txBody>
          <a:bodyPr anchor="t" rtlCol="false" tIns="0" lIns="0" bIns="0" rIns="0">
            <a:spAutoFit/>
          </a:bodyPr>
          <a:lstStyle/>
          <a:p>
            <a:pPr algn="l" marL="615315" indent="-307658" lvl="1">
              <a:lnSpc>
                <a:spcPts val="5130"/>
              </a:lnSpc>
              <a:buFont typeface="Arial"/>
              <a:buChar char="•"/>
            </a:pPr>
            <a:r>
              <a:rPr lang="en-US" sz="2850">
                <a:solidFill>
                  <a:srgbClr val="475569"/>
                </a:solidFill>
                <a:latin typeface="Arimo"/>
                <a:ea typeface="Arimo"/>
                <a:cs typeface="Arimo"/>
                <a:sym typeface="Arimo"/>
              </a:rPr>
              <a:t>A deterministic engine computes every number; the LLM only chooses tools and words</a:t>
            </a:r>
          </a:p>
          <a:p>
            <a:pPr algn="l" marL="615315" indent="-307658" lvl="1">
              <a:lnSpc>
                <a:spcPts val="5130"/>
              </a:lnSpc>
              <a:buFont typeface="Arial"/>
              <a:buChar char="•"/>
            </a:pPr>
            <a:r>
              <a:rPr lang="en-US" sz="2850">
                <a:solidFill>
                  <a:srgbClr val="475569"/>
                </a:solidFill>
                <a:latin typeface="Arimo"/>
                <a:ea typeface="Arimo"/>
                <a:cs typeface="Arimo"/>
                <a:sym typeface="Arimo"/>
              </a:rPr>
              <a:t>No money-moving tool exists. Corrections are drafts the owner approves</a:t>
            </a:r>
          </a:p>
          <a:p>
            <a:pPr algn="l" marL="615315" indent="-307658" lvl="1">
              <a:lnSpc>
                <a:spcPts val="5130"/>
              </a:lnSpc>
              <a:buFont typeface="Arial"/>
              <a:buChar char="•"/>
            </a:pPr>
            <a:r>
              <a:rPr lang="en-US" sz="2850">
                <a:solidFill>
                  <a:srgbClr val="475569"/>
                </a:solidFill>
                <a:latin typeface="Arimo"/>
                <a:ea typeface="Arimo"/>
                <a:cs typeface="Arimo"/>
                <a:sym typeface="Arimo"/>
              </a:rPr>
              <a:t>Answers cite evidence; unsupported numbers are flagged</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Demo: Owner Brief and Cash Truth</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05</a:t>
            </a:r>
          </a:p>
        </p:txBody>
      </p:sp>
      <p:grpSp>
        <p:nvGrpSpPr>
          <p:cNvPr name="Group 7" id="7"/>
          <p:cNvGrpSpPr/>
          <p:nvPr/>
        </p:nvGrpSpPr>
        <p:grpSpPr>
          <a:xfrm rot="0">
            <a:off x="1028700" y="2762250"/>
            <a:ext cx="8039100" cy="4619625"/>
            <a:chOff x="0" y="0"/>
            <a:chExt cx="10718800" cy="6159500"/>
          </a:xfrm>
        </p:grpSpPr>
        <p:sp>
          <p:nvSpPr>
            <p:cNvPr name="Freeform 8" id="8"/>
            <p:cNvSpPr/>
            <p:nvPr/>
          </p:nvSpPr>
          <p:spPr>
            <a:xfrm flipH="false" flipV="false" rot="0">
              <a:off x="0" y="0"/>
              <a:ext cx="10718800" cy="6159500"/>
            </a:xfrm>
            <a:custGeom>
              <a:avLst/>
              <a:gdLst/>
              <a:ahLst/>
              <a:cxnLst/>
              <a:rect r="r" b="b" t="t" l="l"/>
              <a:pathLst>
                <a:path h="6159500" w="10718800">
                  <a:moveTo>
                    <a:pt x="26965" y="0"/>
                  </a:moveTo>
                  <a:lnTo>
                    <a:pt x="10691835" y="0"/>
                  </a:lnTo>
                  <a:cubicBezTo>
                    <a:pt x="10706727" y="0"/>
                    <a:pt x="10718800" y="12073"/>
                    <a:pt x="10718800" y="26965"/>
                  </a:cubicBezTo>
                  <a:lnTo>
                    <a:pt x="10718800" y="6132535"/>
                  </a:lnTo>
                  <a:cubicBezTo>
                    <a:pt x="10718800" y="6147427"/>
                    <a:pt x="10706727" y="6159500"/>
                    <a:pt x="10691835" y="6159500"/>
                  </a:cubicBezTo>
                  <a:lnTo>
                    <a:pt x="26965" y="6159500"/>
                  </a:lnTo>
                  <a:cubicBezTo>
                    <a:pt x="12073" y="6159500"/>
                    <a:pt x="0" y="6147427"/>
                    <a:pt x="0" y="6132535"/>
                  </a:cubicBezTo>
                  <a:lnTo>
                    <a:pt x="0" y="26965"/>
                  </a:lnTo>
                  <a:cubicBezTo>
                    <a:pt x="0" y="12073"/>
                    <a:pt x="12073" y="0"/>
                    <a:pt x="26965" y="0"/>
                  </a:cubicBezTo>
                  <a:close/>
                </a:path>
              </a:pathLst>
            </a:custGeom>
            <a:solidFill>
              <a:srgbClr val="0B1F3A"/>
            </a:solidFill>
          </p:spPr>
        </p:sp>
        <p:sp>
          <p:nvSpPr>
            <p:cNvPr name="TextBox 9" id="9"/>
            <p:cNvSpPr txBox="true"/>
            <p:nvPr/>
          </p:nvSpPr>
          <p:spPr>
            <a:xfrm>
              <a:off x="0" y="-38100"/>
              <a:ext cx="10718800" cy="61976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9220200" y="2762250"/>
            <a:ext cx="8039100" cy="4619625"/>
            <a:chOff x="0" y="0"/>
            <a:chExt cx="10718800" cy="6159500"/>
          </a:xfrm>
        </p:grpSpPr>
        <p:sp>
          <p:nvSpPr>
            <p:cNvPr name="Freeform 11" id="11"/>
            <p:cNvSpPr/>
            <p:nvPr/>
          </p:nvSpPr>
          <p:spPr>
            <a:xfrm flipH="false" flipV="false" rot="0">
              <a:off x="0" y="0"/>
              <a:ext cx="10718800" cy="6159500"/>
            </a:xfrm>
            <a:custGeom>
              <a:avLst/>
              <a:gdLst/>
              <a:ahLst/>
              <a:cxnLst/>
              <a:rect r="r" b="b" t="t" l="l"/>
              <a:pathLst>
                <a:path h="6159500" w="10718800">
                  <a:moveTo>
                    <a:pt x="26965" y="0"/>
                  </a:moveTo>
                  <a:lnTo>
                    <a:pt x="10691835" y="0"/>
                  </a:lnTo>
                  <a:cubicBezTo>
                    <a:pt x="10706727" y="0"/>
                    <a:pt x="10718800" y="12073"/>
                    <a:pt x="10718800" y="26965"/>
                  </a:cubicBezTo>
                  <a:lnTo>
                    <a:pt x="10718800" y="6132535"/>
                  </a:lnTo>
                  <a:cubicBezTo>
                    <a:pt x="10718800" y="6147427"/>
                    <a:pt x="10706727" y="6159500"/>
                    <a:pt x="10691835" y="6159500"/>
                  </a:cubicBezTo>
                  <a:lnTo>
                    <a:pt x="26965" y="6159500"/>
                  </a:lnTo>
                  <a:cubicBezTo>
                    <a:pt x="12073" y="6159500"/>
                    <a:pt x="0" y="6147427"/>
                    <a:pt x="0" y="6132535"/>
                  </a:cubicBezTo>
                  <a:lnTo>
                    <a:pt x="0" y="26965"/>
                  </a:lnTo>
                  <a:cubicBezTo>
                    <a:pt x="0" y="12073"/>
                    <a:pt x="12073" y="0"/>
                    <a:pt x="26965" y="0"/>
                  </a:cubicBezTo>
                  <a:close/>
                </a:path>
              </a:pathLst>
            </a:custGeom>
            <a:solidFill>
              <a:srgbClr val="0B1F3A"/>
            </a:solidFill>
          </p:spPr>
        </p:sp>
        <p:sp>
          <p:nvSpPr>
            <p:cNvPr name="TextBox 12" id="12"/>
            <p:cNvSpPr txBox="true"/>
            <p:nvPr/>
          </p:nvSpPr>
          <p:spPr>
            <a:xfrm>
              <a:off x="0" y="-38100"/>
              <a:ext cx="10718800" cy="6197600"/>
            </a:xfrm>
            <a:prstGeom prst="rect">
              <a:avLst/>
            </a:prstGeom>
          </p:spPr>
          <p:txBody>
            <a:bodyPr anchor="ctr" rtlCol="false" tIns="50800" lIns="50800" bIns="50800" rIns="50800"/>
            <a:lstStyle/>
            <a:p>
              <a:pPr algn="l">
                <a:lnSpc>
                  <a:spcPts val="1679"/>
                </a:lnSpc>
              </a:pPr>
            </a:p>
          </p:txBody>
        </p:sp>
      </p:grpSp>
      <p:sp>
        <p:nvSpPr>
          <p:cNvPr name="Freeform 13" id="13" descr="Owner Brief screen"/>
          <p:cNvSpPr/>
          <p:nvPr/>
        </p:nvSpPr>
        <p:spPr>
          <a:xfrm flipH="false" flipV="false" rot="0">
            <a:off x="1143000" y="2876550"/>
            <a:ext cx="7810500" cy="4391025"/>
          </a:xfrm>
          <a:custGeom>
            <a:avLst/>
            <a:gdLst/>
            <a:ahLst/>
            <a:cxnLst/>
            <a:rect r="r" b="b" t="t" l="l"/>
            <a:pathLst>
              <a:path h="4391025" w="7810500">
                <a:moveTo>
                  <a:pt x="0" y="0"/>
                </a:moveTo>
                <a:lnTo>
                  <a:pt x="7810500" y="0"/>
                </a:lnTo>
                <a:lnTo>
                  <a:pt x="7810500" y="4391025"/>
                </a:lnTo>
                <a:lnTo>
                  <a:pt x="0" y="4391025"/>
                </a:lnTo>
                <a:lnTo>
                  <a:pt x="0" y="0"/>
                </a:lnTo>
                <a:close/>
              </a:path>
            </a:pathLst>
          </a:custGeom>
          <a:blipFill>
            <a:blip r:embed="rId3"/>
            <a:stretch>
              <a:fillRect l="0" t="-27" r="0" b="-27"/>
            </a:stretch>
          </a:blipFill>
        </p:spPr>
      </p:sp>
      <p:sp>
        <p:nvSpPr>
          <p:cNvPr name="Freeform 14" id="14" descr="Cash Truth evidence: books vs bank statements with source rows"/>
          <p:cNvSpPr/>
          <p:nvPr/>
        </p:nvSpPr>
        <p:spPr>
          <a:xfrm flipH="false" flipV="false" rot="0">
            <a:off x="9334500" y="2876550"/>
            <a:ext cx="7810500" cy="4391025"/>
          </a:xfrm>
          <a:custGeom>
            <a:avLst/>
            <a:gdLst/>
            <a:ahLst/>
            <a:cxnLst/>
            <a:rect r="r" b="b" t="t" l="l"/>
            <a:pathLst>
              <a:path h="4391025" w="7810500">
                <a:moveTo>
                  <a:pt x="0" y="0"/>
                </a:moveTo>
                <a:lnTo>
                  <a:pt x="7810500" y="0"/>
                </a:lnTo>
                <a:lnTo>
                  <a:pt x="7810500" y="4391025"/>
                </a:lnTo>
                <a:lnTo>
                  <a:pt x="0" y="4391025"/>
                </a:lnTo>
                <a:lnTo>
                  <a:pt x="0" y="0"/>
                </a:lnTo>
                <a:close/>
              </a:path>
            </a:pathLst>
          </a:custGeom>
          <a:blipFill>
            <a:blip r:embed="rId4"/>
            <a:stretch>
              <a:fillRect l="-2431" t="-2459" r="-2431" b="-2459"/>
            </a:stretch>
          </a:blipFill>
        </p:spPr>
      </p:sp>
      <p:sp>
        <p:nvSpPr>
          <p:cNvPr name="TextBox 15" id="15"/>
          <p:cNvSpPr txBox="true"/>
          <p:nvPr/>
        </p:nvSpPr>
        <p:spPr>
          <a:xfrm rot="0">
            <a:off x="1143000" y="7667625"/>
            <a:ext cx="7810500" cy="365760"/>
          </a:xfrm>
          <a:prstGeom prst="rect">
            <a:avLst/>
          </a:prstGeom>
        </p:spPr>
        <p:txBody>
          <a:bodyPr anchor="t" rtlCol="false" tIns="0" lIns="0" bIns="0" rIns="0">
            <a:spAutoFit/>
          </a:bodyPr>
          <a:lstStyle/>
          <a:p>
            <a:pPr algn="l">
              <a:lnSpc>
                <a:spcPts val="2940"/>
              </a:lnSpc>
            </a:pPr>
            <a:r>
              <a:rPr lang="en-US" sz="2100">
                <a:solidFill>
                  <a:srgbClr val="475569"/>
                </a:solidFill>
                <a:latin typeface="Arimo"/>
                <a:ea typeface="Arimo"/>
                <a:cs typeface="Arimo"/>
                <a:sym typeface="Arimo"/>
              </a:rPr>
              <a:t>Weekly brief: gap, alerts, KPIs, pending approvals</a:t>
            </a:r>
          </a:p>
        </p:txBody>
      </p:sp>
      <p:sp>
        <p:nvSpPr>
          <p:cNvPr name="TextBox 16" id="16"/>
          <p:cNvSpPr txBox="true"/>
          <p:nvPr/>
        </p:nvSpPr>
        <p:spPr>
          <a:xfrm rot="0">
            <a:off x="9334500" y="7667625"/>
            <a:ext cx="7810500" cy="73723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475569"/>
                </a:solidFill>
                <a:latin typeface="Arimo"/>
                <a:ea typeface="Arimo"/>
                <a:cs typeface="Arimo"/>
                <a:sym typeface="Arimo"/>
              </a:rPr>
              <a:t>Cash Truth: books vs bank statements and cash counts, every number linked to its source rows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Demo: chat with evidence, approvals and audit</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06</a:t>
            </a:r>
          </a:p>
        </p:txBody>
      </p:sp>
      <p:grpSp>
        <p:nvGrpSpPr>
          <p:cNvPr name="Group 7" id="7"/>
          <p:cNvGrpSpPr/>
          <p:nvPr/>
        </p:nvGrpSpPr>
        <p:grpSpPr>
          <a:xfrm rot="0">
            <a:off x="1028700" y="2762250"/>
            <a:ext cx="5181600" cy="3143250"/>
            <a:chOff x="0" y="0"/>
            <a:chExt cx="6908800" cy="4191000"/>
          </a:xfrm>
        </p:grpSpPr>
        <p:sp>
          <p:nvSpPr>
            <p:cNvPr name="Freeform 8" id="8"/>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sp>
        <p:sp>
          <p:nvSpPr>
            <p:cNvPr name="TextBox 9" id="9"/>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6553200" y="2762250"/>
            <a:ext cx="5181600" cy="3143250"/>
            <a:chOff x="0" y="0"/>
            <a:chExt cx="6908800" cy="4191000"/>
          </a:xfrm>
        </p:grpSpPr>
        <p:sp>
          <p:nvSpPr>
            <p:cNvPr name="Freeform 11" id="11"/>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sp>
        <p:sp>
          <p:nvSpPr>
            <p:cNvPr name="TextBox 12" id="12"/>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2077700" y="2762250"/>
            <a:ext cx="5181600" cy="3143250"/>
            <a:chOff x="0" y="0"/>
            <a:chExt cx="6908800" cy="4191000"/>
          </a:xfrm>
        </p:grpSpPr>
        <p:sp>
          <p:nvSpPr>
            <p:cNvPr name="Freeform 14" id="14"/>
            <p:cNvSpPr/>
            <p:nvPr/>
          </p:nvSpPr>
          <p:spPr>
            <a:xfrm flipH="false" flipV="false" rot="0">
              <a:off x="0" y="0"/>
              <a:ext cx="6908800" cy="4191000"/>
            </a:xfrm>
            <a:custGeom>
              <a:avLst/>
              <a:gdLst/>
              <a:ahLst/>
              <a:cxnLst/>
              <a:rect r="r" b="b" t="t" l="l"/>
              <a:pathLst>
                <a:path h="4191000" w="6908800">
                  <a:moveTo>
                    <a:pt x="41835" y="0"/>
                  </a:moveTo>
                  <a:lnTo>
                    <a:pt x="6866965" y="0"/>
                  </a:lnTo>
                  <a:cubicBezTo>
                    <a:pt x="6890069" y="0"/>
                    <a:pt x="6908800" y="18730"/>
                    <a:pt x="6908800" y="41835"/>
                  </a:cubicBezTo>
                  <a:lnTo>
                    <a:pt x="6908800" y="4149165"/>
                  </a:lnTo>
                  <a:cubicBezTo>
                    <a:pt x="6908800" y="4172270"/>
                    <a:pt x="6890069" y="4191000"/>
                    <a:pt x="6866965" y="4191000"/>
                  </a:cubicBezTo>
                  <a:lnTo>
                    <a:pt x="41835" y="4191000"/>
                  </a:lnTo>
                  <a:cubicBezTo>
                    <a:pt x="18730" y="4191000"/>
                    <a:pt x="0" y="4172270"/>
                    <a:pt x="0" y="4149165"/>
                  </a:cubicBezTo>
                  <a:lnTo>
                    <a:pt x="0" y="41835"/>
                  </a:lnTo>
                  <a:cubicBezTo>
                    <a:pt x="0" y="18730"/>
                    <a:pt x="18730" y="0"/>
                    <a:pt x="41835" y="0"/>
                  </a:cubicBezTo>
                  <a:close/>
                </a:path>
              </a:pathLst>
            </a:custGeom>
            <a:solidFill>
              <a:srgbClr val="0B1F3A"/>
            </a:solidFill>
          </p:spPr>
        </p:sp>
        <p:sp>
          <p:nvSpPr>
            <p:cNvPr name="TextBox 15" id="15"/>
            <p:cNvSpPr txBox="true"/>
            <p:nvPr/>
          </p:nvSpPr>
          <p:spPr>
            <a:xfrm>
              <a:off x="0" y="-38100"/>
              <a:ext cx="6908800" cy="4229100"/>
            </a:xfrm>
            <a:prstGeom prst="rect">
              <a:avLst/>
            </a:prstGeom>
          </p:spPr>
          <p:txBody>
            <a:bodyPr anchor="ctr" rtlCol="false" tIns="50800" lIns="50800" bIns="50800" rIns="50800"/>
            <a:lstStyle/>
            <a:p>
              <a:pPr algn="l">
                <a:lnSpc>
                  <a:spcPts val="1679"/>
                </a:lnSpc>
              </a:pPr>
            </a:p>
          </p:txBody>
        </p:sp>
      </p:grpSp>
      <p:sp>
        <p:nvSpPr>
          <p:cNvPr name="Freeform 16" id="16" descr="Chat with evidence"/>
          <p:cNvSpPr/>
          <p:nvPr/>
        </p:nvSpPr>
        <p:spPr>
          <a:xfrm flipH="false" flipV="false" rot="0">
            <a:off x="11430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3"/>
            <a:stretch>
              <a:fillRect l="-2307" t="0" r="-2307" b="0"/>
            </a:stretch>
          </a:blipFill>
        </p:spPr>
      </p:sp>
      <p:sp>
        <p:nvSpPr>
          <p:cNvPr name="Freeform 17" id="17" descr="Approval queue"/>
          <p:cNvSpPr/>
          <p:nvPr/>
        </p:nvSpPr>
        <p:spPr>
          <a:xfrm flipH="false" flipV="false" rot="0">
            <a:off x="66675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4"/>
            <a:stretch>
              <a:fillRect l="-2307" t="0" r="-2307" b="0"/>
            </a:stretch>
          </a:blipFill>
        </p:spPr>
      </p:sp>
      <p:sp>
        <p:nvSpPr>
          <p:cNvPr name="Freeform 18" id="18" descr="Audit log verification"/>
          <p:cNvSpPr/>
          <p:nvPr/>
        </p:nvSpPr>
        <p:spPr>
          <a:xfrm flipH="false" flipV="false" rot="0">
            <a:off x="12192000" y="2876550"/>
            <a:ext cx="4953000" cy="2914650"/>
          </a:xfrm>
          <a:custGeom>
            <a:avLst/>
            <a:gdLst/>
            <a:ahLst/>
            <a:cxnLst/>
            <a:rect r="r" b="b" t="t" l="l"/>
            <a:pathLst>
              <a:path h="2914650" w="4953000">
                <a:moveTo>
                  <a:pt x="0" y="0"/>
                </a:moveTo>
                <a:lnTo>
                  <a:pt x="4953000" y="0"/>
                </a:lnTo>
                <a:lnTo>
                  <a:pt x="4953000" y="2914650"/>
                </a:lnTo>
                <a:lnTo>
                  <a:pt x="0" y="2914650"/>
                </a:lnTo>
                <a:lnTo>
                  <a:pt x="0" y="0"/>
                </a:lnTo>
                <a:close/>
              </a:path>
            </a:pathLst>
          </a:custGeom>
          <a:blipFill>
            <a:blip r:embed="rId5"/>
            <a:stretch>
              <a:fillRect l="-2307" t="0" r="-2307" b="0"/>
            </a:stretch>
          </a:blipFill>
        </p:spPr>
      </p:sp>
      <p:sp>
        <p:nvSpPr>
          <p:cNvPr name="TextBox 19" id="19"/>
          <p:cNvSpPr txBox="true"/>
          <p:nvPr/>
        </p:nvSpPr>
        <p:spPr>
          <a:xfrm rot="0">
            <a:off x="1143000" y="6334125"/>
            <a:ext cx="4953000" cy="737235"/>
          </a:xfrm>
          <a:prstGeom prst="rect">
            <a:avLst/>
          </a:prstGeom>
        </p:spPr>
        <p:txBody>
          <a:bodyPr anchor="t" rtlCol="false" tIns="0" lIns="0" bIns="0" rIns="0">
            <a:spAutoFit/>
          </a:bodyPr>
          <a:lstStyle/>
          <a:p>
            <a:pPr algn="l">
              <a:lnSpc>
                <a:spcPts val="2940"/>
              </a:lnSpc>
            </a:pPr>
            <a:r>
              <a:rPr lang="en-US" sz="2100">
                <a:solidFill>
                  <a:srgbClr val="475569"/>
                </a:solidFill>
                <a:latin typeface="Arimo"/>
                <a:ea typeface="Arimo"/>
                <a:cs typeface="Arimo"/>
                <a:sym typeface="Arimo"/>
              </a:rPr>
              <a:t>Chat answers cite evidence and a transfer request is refused</a:t>
            </a:r>
          </a:p>
        </p:txBody>
      </p:sp>
      <p:sp>
        <p:nvSpPr>
          <p:cNvPr name="TextBox 20" id="20"/>
          <p:cNvSpPr txBox="true"/>
          <p:nvPr/>
        </p:nvSpPr>
        <p:spPr>
          <a:xfrm rot="0">
            <a:off x="6667500" y="6334125"/>
            <a:ext cx="4953000" cy="365760"/>
          </a:xfrm>
          <a:prstGeom prst="rect">
            <a:avLst/>
          </a:prstGeom>
        </p:spPr>
        <p:txBody>
          <a:bodyPr anchor="t" rtlCol="false" tIns="0" lIns="0" bIns="0" rIns="0">
            <a:spAutoFit/>
          </a:bodyPr>
          <a:lstStyle/>
          <a:p>
            <a:pPr algn="l">
              <a:lnSpc>
                <a:spcPts val="2940"/>
              </a:lnSpc>
            </a:pPr>
            <a:r>
              <a:rPr lang="en-US" sz="2100">
                <a:solidFill>
                  <a:srgbClr val="475569"/>
                </a:solidFill>
                <a:latin typeface="Arimo"/>
                <a:ea typeface="Arimo"/>
                <a:cs typeface="Arimo"/>
                <a:sym typeface="Arimo"/>
              </a:rPr>
              <a:t>Drafts wait for the owner</a:t>
            </a:r>
          </a:p>
        </p:txBody>
      </p:sp>
      <p:sp>
        <p:nvSpPr>
          <p:cNvPr name="TextBox 21" id="21"/>
          <p:cNvSpPr txBox="true"/>
          <p:nvPr/>
        </p:nvSpPr>
        <p:spPr>
          <a:xfrm rot="0">
            <a:off x="12192000" y="6334125"/>
            <a:ext cx="4953000" cy="365760"/>
          </a:xfrm>
          <a:prstGeom prst="rect">
            <a:avLst/>
          </a:prstGeom>
        </p:spPr>
        <p:txBody>
          <a:bodyPr anchor="t" rtlCol="false" tIns="0" lIns="0" bIns="0" rIns="0">
            <a:spAutoFit/>
          </a:bodyPr>
          <a:lstStyle/>
          <a:p>
            <a:pPr algn="l">
              <a:lnSpc>
                <a:spcPts val="2940"/>
              </a:lnSpc>
            </a:pPr>
            <a:r>
              <a:rPr lang="en-US" sz="2100">
                <a:solidFill>
                  <a:srgbClr val="475569"/>
                </a:solidFill>
                <a:latin typeface="Arimo"/>
                <a:ea typeface="Arimo"/>
                <a:cs typeface="Arimo"/>
                <a:sym typeface="Arimo"/>
              </a:rPr>
              <a:t>Every step is in a verifiable audit log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Financing matching</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07</a:t>
            </a:r>
          </a:p>
        </p:txBody>
      </p:sp>
      <p:grpSp>
        <p:nvGrpSpPr>
          <p:cNvPr name="Group 7" id="7"/>
          <p:cNvGrpSpPr/>
          <p:nvPr/>
        </p:nvGrpSpPr>
        <p:grpSpPr>
          <a:xfrm rot="0">
            <a:off x="8458200" y="2762250"/>
            <a:ext cx="8801100" cy="5172075"/>
            <a:chOff x="0" y="0"/>
            <a:chExt cx="11734800" cy="6896100"/>
          </a:xfrm>
        </p:grpSpPr>
        <p:sp>
          <p:nvSpPr>
            <p:cNvPr name="Freeform 8" id="8"/>
            <p:cNvSpPr/>
            <p:nvPr/>
          </p:nvSpPr>
          <p:spPr>
            <a:xfrm flipH="false" flipV="false" rot="0">
              <a:off x="0" y="0"/>
              <a:ext cx="11734800" cy="6896100"/>
            </a:xfrm>
            <a:custGeom>
              <a:avLst/>
              <a:gdLst/>
              <a:ahLst/>
              <a:cxnLst/>
              <a:rect r="r" b="b" t="t" l="l"/>
              <a:pathLst>
                <a:path h="6896100" w="11734800">
                  <a:moveTo>
                    <a:pt x="24630" y="0"/>
                  </a:moveTo>
                  <a:lnTo>
                    <a:pt x="11710170" y="0"/>
                  </a:lnTo>
                  <a:cubicBezTo>
                    <a:pt x="11723773" y="0"/>
                    <a:pt x="11734800" y="11027"/>
                    <a:pt x="11734800" y="24630"/>
                  </a:cubicBezTo>
                  <a:lnTo>
                    <a:pt x="11734800" y="6871470"/>
                  </a:lnTo>
                  <a:cubicBezTo>
                    <a:pt x="11734800" y="6885073"/>
                    <a:pt x="11723773" y="6896100"/>
                    <a:pt x="11710170" y="6896100"/>
                  </a:cubicBezTo>
                  <a:lnTo>
                    <a:pt x="24630" y="6896100"/>
                  </a:lnTo>
                  <a:cubicBezTo>
                    <a:pt x="11027" y="6896100"/>
                    <a:pt x="0" y="6885073"/>
                    <a:pt x="0" y="6871470"/>
                  </a:cubicBezTo>
                  <a:lnTo>
                    <a:pt x="0" y="24630"/>
                  </a:lnTo>
                  <a:cubicBezTo>
                    <a:pt x="0" y="11027"/>
                    <a:pt x="11027" y="0"/>
                    <a:pt x="24630" y="0"/>
                  </a:cubicBezTo>
                  <a:close/>
                </a:path>
              </a:pathLst>
            </a:custGeom>
            <a:solidFill>
              <a:srgbClr val="0B1F3A"/>
            </a:solidFill>
          </p:spPr>
        </p:sp>
        <p:sp>
          <p:nvSpPr>
            <p:cNvPr name="TextBox 9" id="9"/>
            <p:cNvSpPr txBox="true"/>
            <p:nvPr/>
          </p:nvSpPr>
          <p:spPr>
            <a:xfrm>
              <a:off x="0" y="-38100"/>
              <a:ext cx="11734800" cy="6934200"/>
            </a:xfrm>
            <a:prstGeom prst="rect">
              <a:avLst/>
            </a:prstGeom>
          </p:spPr>
          <p:txBody>
            <a:bodyPr anchor="ctr" rtlCol="false" tIns="50800" lIns="50800" bIns="50800" rIns="50800"/>
            <a:lstStyle/>
            <a:p>
              <a:pPr algn="l">
                <a:lnSpc>
                  <a:spcPts val="1679"/>
                </a:lnSpc>
              </a:pPr>
            </a:p>
          </p:txBody>
        </p:sp>
      </p:grpSp>
      <p:sp>
        <p:nvSpPr>
          <p:cNvPr name="Freeform 10" id="10" descr="Financing matching screen"/>
          <p:cNvSpPr/>
          <p:nvPr/>
        </p:nvSpPr>
        <p:spPr>
          <a:xfrm flipH="false" flipV="false" rot="0">
            <a:off x="8572500" y="2876550"/>
            <a:ext cx="8572500" cy="4819650"/>
          </a:xfrm>
          <a:custGeom>
            <a:avLst/>
            <a:gdLst/>
            <a:ahLst/>
            <a:cxnLst/>
            <a:rect r="r" b="b" t="t" l="l"/>
            <a:pathLst>
              <a:path h="4819650" w="8572500">
                <a:moveTo>
                  <a:pt x="0" y="0"/>
                </a:moveTo>
                <a:lnTo>
                  <a:pt x="8572500" y="0"/>
                </a:lnTo>
                <a:lnTo>
                  <a:pt x="8572500" y="4819650"/>
                </a:lnTo>
                <a:lnTo>
                  <a:pt x="0" y="4819650"/>
                </a:lnTo>
                <a:lnTo>
                  <a:pt x="0" y="0"/>
                </a:lnTo>
                <a:close/>
              </a:path>
            </a:pathLst>
          </a:custGeom>
          <a:blipFill>
            <a:blip r:embed="rId3"/>
            <a:stretch>
              <a:fillRect l="0" t="-24" r="0" b="-24"/>
            </a:stretch>
          </a:blipFill>
        </p:spPr>
      </p:sp>
      <p:sp>
        <p:nvSpPr>
          <p:cNvPr name="TextBox 11" id="11"/>
          <p:cNvSpPr txBox="true"/>
          <p:nvPr/>
        </p:nvSpPr>
        <p:spPr>
          <a:xfrm rot="0">
            <a:off x="1143000" y="2676525"/>
            <a:ext cx="6667500" cy="3194685"/>
          </a:xfrm>
          <a:prstGeom prst="rect">
            <a:avLst/>
          </a:prstGeom>
        </p:spPr>
        <p:txBody>
          <a:bodyPr anchor="t" rtlCol="false" tIns="0" lIns="0" bIns="0" rIns="0">
            <a:spAutoFit/>
          </a:bodyPr>
          <a:lstStyle/>
          <a:p>
            <a:pPr algn="l" marL="518160" indent="-259080" lvl="1">
              <a:lnSpc>
                <a:spcPts val="3600"/>
              </a:lnSpc>
              <a:buFont typeface="Arial"/>
              <a:buChar char="•"/>
            </a:pPr>
            <a:r>
              <a:rPr lang="en-US" sz="2400">
                <a:solidFill>
                  <a:srgbClr val="475569"/>
                </a:solidFill>
                <a:latin typeface="Arimo"/>
                <a:ea typeface="Arimo"/>
                <a:cs typeface="Arimo"/>
                <a:sym typeface="Arimo"/>
              </a:rPr>
              <a:t>Public financing products with machine-checkable eligibility rules</a:t>
            </a:r>
          </a:p>
          <a:p>
            <a:pPr algn="l" marL="518160" indent="-259080" lvl="1">
              <a:lnSpc>
                <a:spcPts val="3600"/>
              </a:lnSpc>
              <a:buFont typeface="Arial"/>
              <a:buChar char="•"/>
            </a:pPr>
            <a:r>
              <a:rPr lang="en-US" sz="2400">
                <a:solidFill>
                  <a:srgbClr val="475569"/>
                </a:solidFill>
                <a:latin typeface="Arimo"/>
                <a:ea typeface="Arimo"/>
                <a:cs typeface="Arimo"/>
                <a:sym typeface="Arimo"/>
              </a:rPr>
              <a:t>Facts computed from the data; what the books cannot show is marked to-confirm</a:t>
            </a:r>
          </a:p>
          <a:p>
            <a:pPr algn="l" marL="518160" indent="-259080" lvl="1">
              <a:lnSpc>
                <a:spcPts val="3600"/>
              </a:lnSpc>
              <a:buFont typeface="Arial"/>
              <a:buChar char="•"/>
            </a:pPr>
            <a:r>
              <a:rPr lang="en-US" sz="2400">
                <a:solidFill>
                  <a:srgbClr val="475569"/>
                </a:solidFill>
                <a:latin typeface="Arimo"/>
                <a:ea typeface="Arimo"/>
                <a:cs typeface="Arimo"/>
                <a:sym typeface="Arimo"/>
              </a:rPr>
              <a:t>Affordability: loan sized to the forecast shortfall; DSCR of 1.25 or more = affordable</a:t>
            </a:r>
          </a:p>
          <a:p>
            <a:pPr algn="l" marL="518160" indent="-259080" lvl="1">
              <a:lnSpc>
                <a:spcPts val="3600"/>
              </a:lnSpc>
              <a:buFont typeface="Arial"/>
              <a:buChar char="•"/>
            </a:pPr>
            <a:r>
              <a:rPr lang="en-US" sz="2400">
                <a:solidFill>
                  <a:srgbClr val="475569"/>
                </a:solidFill>
                <a:latin typeface="Arimo"/>
                <a:ea typeface="Arimo"/>
                <a:cs typeface="Arimo"/>
                <a:sym typeface="Arimo"/>
              </a:rPr>
              <a:t>Illustrative only. The system never applies.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Security by design</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143000" y="2276475"/>
            <a:ext cx="4095750" cy="1327785"/>
          </a:xfrm>
          <a:prstGeom prst="rect">
            <a:avLst/>
          </a:prstGeom>
        </p:spPr>
        <p:txBody>
          <a:bodyPr anchor="t" rtlCol="false" tIns="0" lIns="0" bIns="0" rIns="0">
            <a:spAutoFit/>
          </a:bodyPr>
          <a:lstStyle/>
          <a:p>
            <a:pPr algn="l">
              <a:lnSpc>
                <a:spcPts val="9900"/>
              </a:lnSpc>
            </a:pPr>
            <a:r>
              <a:rPr lang="en-US" sz="9900" b="true">
                <a:solidFill>
                  <a:srgbClr val="F59E0B"/>
                </a:solidFill>
                <a:latin typeface="Inter Bold"/>
                <a:ea typeface="Inter Bold"/>
                <a:cs typeface="Inter Bold"/>
                <a:sym typeface="Inter Bold"/>
              </a:rPr>
              <a:t>65</a:t>
            </a:r>
          </a:p>
        </p:txBody>
      </p:sp>
      <p:sp>
        <p:nvSpPr>
          <p:cNvPr name="TextBox 7" id="7"/>
          <p:cNvSpPr txBox="true"/>
          <p:nvPr/>
        </p:nvSpPr>
        <p:spPr>
          <a:xfrm rot="0">
            <a:off x="3238500" y="2667000"/>
            <a:ext cx="6191250" cy="821055"/>
          </a:xfrm>
          <a:prstGeom prst="rect">
            <a:avLst/>
          </a:prstGeom>
        </p:spPr>
        <p:txBody>
          <a:bodyPr anchor="t" rtlCol="false" tIns="0" lIns="0" bIns="0" rIns="0">
            <a:spAutoFit/>
          </a:bodyPr>
          <a:lstStyle/>
          <a:p>
            <a:pPr algn="l">
              <a:lnSpc>
                <a:spcPts val="6719"/>
              </a:lnSpc>
            </a:pPr>
            <a:r>
              <a:rPr lang="en-US" sz="4800" b="true">
                <a:solidFill>
                  <a:srgbClr val="475569"/>
                </a:solidFill>
                <a:latin typeface="Inter Bold"/>
                <a:ea typeface="Inter Bold"/>
                <a:cs typeface="Inter Bold"/>
                <a:sym typeface="Inter Bold"/>
              </a:rPr>
              <a:t>security tests</a:t>
            </a:r>
          </a:p>
        </p:txBody>
      </p:sp>
      <p:sp>
        <p:nvSpPr>
          <p:cNvPr name="TextBox 8" id="8"/>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08</a:t>
            </a:r>
          </a:p>
        </p:txBody>
      </p:sp>
      <p:sp>
        <p:nvSpPr>
          <p:cNvPr name="TextBox 9" id="9"/>
          <p:cNvSpPr txBox="true"/>
          <p:nvPr/>
        </p:nvSpPr>
        <p:spPr>
          <a:xfrm rot="0">
            <a:off x="1143000" y="3848100"/>
            <a:ext cx="15240000" cy="415290"/>
          </a:xfrm>
          <a:prstGeom prst="rect">
            <a:avLst/>
          </a:prstGeom>
        </p:spPr>
        <p:txBody>
          <a:bodyPr anchor="t" rtlCol="false" tIns="0" lIns="0" bIns="0" rIns="0">
            <a:spAutoFit/>
          </a:bodyPr>
          <a:lstStyle/>
          <a:p>
            <a:pPr algn="l">
              <a:lnSpc>
                <a:spcPts val="3359"/>
              </a:lnSpc>
            </a:pPr>
            <a:r>
              <a:rPr lang="en-US" sz="2400">
                <a:solidFill>
                  <a:srgbClr val="14B8A6"/>
                </a:solidFill>
                <a:latin typeface="Arimo"/>
                <a:ea typeface="Arimo"/>
                <a:cs typeface="Arimo"/>
                <a:sym typeface="Arimo"/>
              </a:rPr>
              <a:t>induced transfer, data extraction, privilege escalation, prompt injection</a:t>
            </a:r>
          </a:p>
        </p:txBody>
      </p:sp>
      <p:sp>
        <p:nvSpPr>
          <p:cNvPr name="TextBox 10" id="10"/>
          <p:cNvSpPr txBox="true"/>
          <p:nvPr/>
        </p:nvSpPr>
        <p:spPr>
          <a:xfrm rot="0">
            <a:off x="1143000" y="4991100"/>
            <a:ext cx="16002000" cy="2282190"/>
          </a:xfrm>
          <a:prstGeom prst="rect">
            <a:avLst/>
          </a:prstGeom>
        </p:spPr>
        <p:txBody>
          <a:bodyPr anchor="t" rtlCol="false" tIns="0" lIns="0" bIns="0" rIns="0">
            <a:spAutoFit/>
          </a:bodyPr>
          <a:lstStyle/>
          <a:p>
            <a:pPr algn="l" marL="550545" indent="-275272" lvl="1">
              <a:lnSpc>
                <a:spcPts val="4590"/>
              </a:lnSpc>
              <a:buFont typeface="Arial"/>
              <a:buChar char="•"/>
            </a:pPr>
            <a:r>
              <a:rPr lang="en-US" sz="2550">
                <a:solidFill>
                  <a:srgbClr val="475569"/>
                </a:solidFill>
                <a:latin typeface="Arimo"/>
                <a:ea typeface="Arimo"/>
                <a:cs typeface="Arimo"/>
                <a:sym typeface="Arimo"/>
              </a:rPr>
              <a:t>Model not trusted: tiers enforced in code, outside the model</a:t>
            </a:r>
          </a:p>
          <a:p>
            <a:pPr algn="l" marL="550545" indent="-275272" lvl="1">
              <a:lnSpc>
                <a:spcPts val="4590"/>
              </a:lnSpc>
              <a:buFont typeface="Arial"/>
              <a:buChar char="•"/>
            </a:pPr>
            <a:r>
              <a:rPr lang="en-US" sz="2550">
                <a:solidFill>
                  <a:srgbClr val="475569"/>
                </a:solidFill>
                <a:latin typeface="Arimo"/>
                <a:ea typeface="Arimo"/>
                <a:cs typeface="Arimo"/>
                <a:sym typeface="Arimo"/>
              </a:rPr>
              <a:t>Owner-only approval with token; payload hashed and re-verified; the agent cannot approve</a:t>
            </a:r>
          </a:p>
          <a:p>
            <a:pPr algn="l" marL="550545" indent="-275272" lvl="1">
              <a:lnSpc>
                <a:spcPts val="4590"/>
              </a:lnSpc>
              <a:buFont typeface="Arial"/>
              <a:buChar char="•"/>
            </a:pPr>
            <a:r>
              <a:rPr lang="en-US" sz="2550">
                <a:solidFill>
                  <a:srgbClr val="475569"/>
                </a:solidFill>
                <a:latin typeface="Arimo"/>
                <a:ea typeface="Arimo"/>
                <a:cs typeface="Arimo"/>
                <a:sym typeface="Arimo"/>
              </a:rPr>
              <a:t>Hash-chained audit log, verifiable at /audit/verify</a:t>
            </a:r>
          </a:p>
          <a:p>
            <a:pPr algn="l" marL="550545" indent="-275272" lvl="1">
              <a:lnSpc>
                <a:spcPts val="4590"/>
              </a:lnSpc>
              <a:buFont typeface="Arial"/>
              <a:buChar char="•"/>
            </a:pPr>
            <a:r>
              <a:rPr lang="en-US" sz="2550">
                <a:solidFill>
                  <a:srgbClr val="475569"/>
                </a:solidFill>
                <a:latin typeface="Arimo"/>
                <a:ea typeface="Arimo"/>
                <a:cs typeface="Arimo"/>
                <a:sym typeface="Arimo"/>
              </a:rPr>
              <a:t>PII redacted before the LLM; injection flagged and enclosed; company scoping; cost cap</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Evaluation: honest numbers</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1143000" y="3143250"/>
            <a:ext cx="6191250" cy="1957388"/>
            <a:chOff x="0" y="0"/>
            <a:chExt cx="8255000" cy="2609850"/>
          </a:xfrm>
        </p:grpSpPr>
        <p:sp>
          <p:nvSpPr>
            <p:cNvPr name="TextBox 7" id="7"/>
            <p:cNvSpPr txBox="true"/>
            <p:nvPr/>
          </p:nvSpPr>
          <p:spPr>
            <a:xfrm rot="0">
              <a:off x="0" y="180975"/>
              <a:ext cx="8255000" cy="1830705"/>
            </a:xfrm>
            <a:prstGeom prst="rect">
              <a:avLst/>
            </a:prstGeom>
          </p:spPr>
          <p:txBody>
            <a:bodyPr anchor="t" rtlCol="false" tIns="0" lIns="0" bIns="0" rIns="0">
              <a:spAutoFit/>
            </a:bodyPr>
            <a:lstStyle/>
            <a:p>
              <a:pPr algn="l">
                <a:lnSpc>
                  <a:spcPts val="9900"/>
                </a:lnSpc>
              </a:pPr>
              <a:r>
                <a:rPr lang="en-US" sz="9900" b="true">
                  <a:solidFill>
                    <a:srgbClr val="F59E0B"/>
                  </a:solidFill>
                  <a:latin typeface="Inter Bold"/>
                  <a:ea typeface="Inter Bold"/>
                  <a:cs typeface="Inter Bold"/>
                  <a:sym typeface="Inter Bold"/>
                </a:rPr>
                <a:t>0.98</a:t>
              </a:r>
            </a:p>
          </p:txBody>
        </p:sp>
        <p:sp>
          <p:nvSpPr>
            <p:cNvPr name="TextBox 8" id="8"/>
            <p:cNvSpPr txBox="true"/>
            <p:nvPr/>
          </p:nvSpPr>
          <p:spPr>
            <a:xfrm rot="0">
              <a:off x="0" y="2120900"/>
              <a:ext cx="6350000" cy="488950"/>
            </a:xfrm>
            <a:prstGeom prst="rect">
              <a:avLst/>
            </a:prstGeom>
          </p:spPr>
          <p:txBody>
            <a:bodyPr anchor="t" rtlCol="false" tIns="0" lIns="0" bIns="0" rIns="0">
              <a:spAutoFit/>
            </a:bodyPr>
            <a:lstStyle/>
            <a:p>
              <a:pPr algn="l">
                <a:lnSpc>
                  <a:spcPts val="3037"/>
                </a:lnSpc>
              </a:pPr>
              <a:r>
                <a:rPr lang="en-US" sz="2250">
                  <a:solidFill>
                    <a:srgbClr val="475569"/>
                  </a:solidFill>
                  <a:latin typeface="Inter"/>
                  <a:ea typeface="Inter"/>
                  <a:cs typeface="Inter"/>
                  <a:sym typeface="Inter"/>
                </a:rPr>
                <a:t>recall</a:t>
              </a:r>
            </a:p>
          </p:txBody>
        </p:sp>
      </p:grpSp>
      <p:sp>
        <p:nvSpPr>
          <p:cNvPr name="TextBox 9" id="9"/>
          <p:cNvSpPr txBox="true"/>
          <p:nvPr/>
        </p:nvSpPr>
        <p:spPr>
          <a:xfrm rot="0">
            <a:off x="8096250" y="3324225"/>
            <a:ext cx="8096250" cy="1327785"/>
          </a:xfrm>
          <a:prstGeom prst="rect">
            <a:avLst/>
          </a:prstGeom>
        </p:spPr>
        <p:txBody>
          <a:bodyPr anchor="t" rtlCol="false" tIns="0" lIns="0" bIns="0" rIns="0">
            <a:spAutoFit/>
          </a:bodyPr>
          <a:lstStyle/>
          <a:p>
            <a:pPr algn="l">
              <a:lnSpc>
                <a:spcPts val="9900"/>
              </a:lnSpc>
            </a:pPr>
            <a:r>
              <a:rPr lang="en-US" sz="9900" b="true">
                <a:solidFill>
                  <a:srgbClr val="F59E0B"/>
                </a:solidFill>
                <a:latin typeface="Inter Bold"/>
                <a:ea typeface="Inter Bold"/>
                <a:cs typeface="Inter Bold"/>
                <a:sym typeface="Inter Bold"/>
              </a:rPr>
              <a:t>0.80 vs 0.43</a:t>
            </a:r>
          </a:p>
        </p:txBody>
      </p:sp>
      <p:sp>
        <p:nvSpPr>
          <p:cNvPr name="TextBox 10" id="10"/>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09</a:t>
            </a:r>
          </a:p>
        </p:txBody>
      </p:sp>
      <p:sp>
        <p:nvSpPr>
          <p:cNvPr name="TextBox 11" id="11"/>
          <p:cNvSpPr txBox="true"/>
          <p:nvPr/>
        </p:nvSpPr>
        <p:spPr>
          <a:xfrm rot="0">
            <a:off x="8096250" y="4714875"/>
            <a:ext cx="8096250" cy="737235"/>
          </a:xfrm>
          <a:prstGeom prst="rect">
            <a:avLst/>
          </a:prstGeom>
        </p:spPr>
        <p:txBody>
          <a:bodyPr anchor="t" rtlCol="false" tIns="0" lIns="0" bIns="0" rIns="0">
            <a:spAutoFit/>
          </a:bodyPr>
          <a:lstStyle/>
          <a:p>
            <a:pPr algn="l">
              <a:lnSpc>
                <a:spcPts val="2940"/>
              </a:lnSpc>
            </a:pPr>
            <a:r>
              <a:rPr lang="en-US" sz="2100">
                <a:solidFill>
                  <a:srgbClr val="475569"/>
                </a:solidFill>
                <a:latin typeface="Arimo"/>
                <a:ea typeface="Arimo"/>
                <a:cs typeface="Arimo"/>
                <a:sym typeface="Arimo"/>
              </a:rPr>
              <a:t>recall vs the standard rule on 18,719 real UK council payments (350 injected errors)</a:t>
            </a:r>
          </a:p>
        </p:txBody>
      </p:sp>
      <p:sp>
        <p:nvSpPr>
          <p:cNvPr name="TextBox 12" id="12"/>
          <p:cNvSpPr txBox="true"/>
          <p:nvPr/>
        </p:nvSpPr>
        <p:spPr>
          <a:xfrm rot="0">
            <a:off x="1143000" y="5991225"/>
            <a:ext cx="16002000" cy="2276475"/>
          </a:xfrm>
          <a:prstGeom prst="rect">
            <a:avLst/>
          </a:prstGeom>
        </p:spPr>
        <p:txBody>
          <a:bodyPr anchor="t" rtlCol="false" tIns="0" lIns="0" bIns="0" rIns="0">
            <a:spAutoFit/>
          </a:bodyPr>
          <a:lstStyle/>
          <a:p>
            <a:pPr algn="l" marL="485775" indent="-242888" lvl="1">
              <a:lnSpc>
                <a:spcPts val="3600"/>
              </a:lnSpc>
              <a:buFont typeface="Arial"/>
              <a:buChar char="•"/>
            </a:pPr>
            <a:r>
              <a:rPr lang="en-US" sz="2250">
                <a:solidFill>
                  <a:srgbClr val="475569"/>
                </a:solidFill>
                <a:latin typeface="Arimo"/>
                <a:ea typeface="Arimo"/>
                <a:cs typeface="Arimo"/>
                <a:sym typeface="Arimo"/>
              </a:rPr>
              <a:t>Synthetic SMEs with exact answer keys (bd / cn / uk): recall on detectable problems 0.98 / 0.98 / 1.00; precision 0.98 / 0.99 / 0.99</a:t>
            </a:r>
          </a:p>
          <a:p>
            <a:pPr algn="l" marL="485775" indent="-242888" lvl="1">
              <a:lnSpc>
                <a:spcPts val="3600"/>
              </a:lnSpc>
              <a:buFont typeface="Arial"/>
              <a:buChar char="•"/>
            </a:pPr>
            <a:r>
              <a:rPr lang="en-US" sz="2250">
                <a:solidFill>
                  <a:srgbClr val="475569"/>
                </a:solidFill>
                <a:latin typeface="Arimo"/>
                <a:ea typeface="Arimo"/>
                <a:cs typeface="Arimo"/>
                <a:sym typeface="Arimo"/>
              </a:rPr>
              <a:t>Overall recall 0.84 / 0.87 / 0.83 (inventory shrinkage is invisible to any source)</a:t>
            </a:r>
          </a:p>
          <a:p>
            <a:pPr algn="l" marL="485775" indent="-242888" lvl="1">
              <a:lnSpc>
                <a:spcPts val="3600"/>
              </a:lnSpc>
              <a:buFont typeface="Arial"/>
              <a:buChar char="•"/>
            </a:pPr>
            <a:r>
              <a:rPr lang="en-US" sz="2250">
                <a:solidFill>
                  <a:srgbClr val="475569"/>
                </a:solidFill>
                <a:latin typeface="Arimo"/>
                <a:ea typeface="Arimo"/>
                <a:cs typeface="Arimo"/>
                <a:sym typeface="Arimo"/>
              </a:rPr>
              <a:t>Gap equals the answer key to the cent; books-basis P&amp;L matches to the cent</a:t>
            </a:r>
          </a:p>
          <a:p>
            <a:pPr algn="l" marL="485775" indent="-242888" lvl="1">
              <a:lnSpc>
                <a:spcPts val="3600"/>
              </a:lnSpc>
              <a:buFont typeface="Arial"/>
              <a:buChar char="•"/>
            </a:pPr>
            <a:r>
              <a:rPr lang="en-US" sz="2250">
                <a:solidFill>
                  <a:srgbClr val="475569"/>
                </a:solidFill>
                <a:latin typeface="Arimo"/>
                <a:ea typeface="Arimo"/>
                <a:cs typeface="Arimo"/>
                <a:sym typeface="Arimo"/>
              </a:rPr>
              <a:t>Forecast: roughly level with naive baselines. We do not oversell it.</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143000" y="876300"/>
            <a:ext cx="14287500" cy="673227"/>
          </a:xfrm>
          <a:prstGeom prst="rect">
            <a:avLst/>
          </a:prstGeom>
        </p:spPr>
        <p:txBody>
          <a:bodyPr anchor="t" rtlCol="false" tIns="0" lIns="0" bIns="0" rIns="0">
            <a:spAutoFit/>
          </a:bodyPr>
          <a:lstStyle/>
          <a:p>
            <a:pPr algn="l">
              <a:lnSpc>
                <a:spcPts val="5184"/>
              </a:lnSpc>
            </a:pPr>
            <a:r>
              <a:rPr lang="en-US" sz="4800" b="true">
                <a:solidFill>
                  <a:srgbClr val="0B1F3A"/>
                </a:solidFill>
                <a:latin typeface="Inter Bold"/>
                <a:ea typeface="Inter Bold"/>
                <a:cs typeface="Inter Bold"/>
                <a:sym typeface="Inter Bold"/>
              </a:rPr>
              <a:t>Architecture</a:t>
            </a:r>
          </a:p>
        </p:txBody>
      </p:sp>
      <p:grpSp>
        <p:nvGrpSpPr>
          <p:cNvPr name="Group 3" id="3"/>
          <p:cNvGrpSpPr/>
          <p:nvPr/>
        </p:nvGrpSpPr>
        <p:grpSpPr>
          <a:xfrm rot="0">
            <a:off x="1143000" y="1733550"/>
            <a:ext cx="685800" cy="57150"/>
            <a:chOff x="0" y="0"/>
            <a:chExt cx="914400" cy="76200"/>
          </a:xfrm>
        </p:grpSpPr>
        <p:sp>
          <p:nvSpPr>
            <p:cNvPr name="Freeform 4" id="4"/>
            <p:cNvSpPr/>
            <p:nvPr/>
          </p:nvSpPr>
          <p:spPr>
            <a:xfrm flipH="false" flipV="false" rot="0">
              <a:off x="0" y="0"/>
              <a:ext cx="914400" cy="76200"/>
            </a:xfrm>
            <a:custGeom>
              <a:avLst/>
              <a:gdLst/>
              <a:ahLst/>
              <a:cxnLst/>
              <a:rect r="r" b="b" t="t" l="l"/>
              <a:pathLst>
                <a:path h="76200" w="914400">
                  <a:moveTo>
                    <a:pt x="0" y="0"/>
                  </a:moveTo>
                  <a:lnTo>
                    <a:pt x="914400" y="0"/>
                  </a:lnTo>
                  <a:lnTo>
                    <a:pt x="914400" y="76200"/>
                  </a:lnTo>
                  <a:lnTo>
                    <a:pt x="0" y="76200"/>
                  </a:lnTo>
                  <a:close/>
                </a:path>
              </a:pathLst>
            </a:custGeom>
            <a:solidFill>
              <a:srgbClr val="14B8A6"/>
            </a:solidFill>
            <a:ln cap="sq">
              <a:noFill/>
              <a:prstDash val="solid"/>
              <a:miter/>
            </a:ln>
          </p:spPr>
        </p:sp>
        <p:sp>
          <p:nvSpPr>
            <p:cNvPr name="TextBox 5" id="5"/>
            <p:cNvSpPr txBox="true"/>
            <p:nvPr/>
          </p:nvSpPr>
          <p:spPr>
            <a:xfrm>
              <a:off x="0" y="-38100"/>
              <a:ext cx="914400" cy="1143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475569"/>
                </a:solidFill>
                <a:latin typeface="Inter Bold"/>
                <a:ea typeface="Inter Bold"/>
                <a:cs typeface="Inter Bold"/>
                <a:sym typeface="Inter Bold"/>
              </a:rPr>
              <a:t>10</a:t>
            </a:r>
          </a:p>
        </p:txBody>
      </p:sp>
      <p:grpSp>
        <p:nvGrpSpPr>
          <p:cNvPr name="Group 7" id="7"/>
          <p:cNvGrpSpPr/>
          <p:nvPr/>
        </p:nvGrpSpPr>
        <p:grpSpPr>
          <a:xfrm rot="0">
            <a:off x="1143000" y="2667000"/>
            <a:ext cx="16002000" cy="1143000"/>
            <a:chOff x="0" y="0"/>
            <a:chExt cx="21336000" cy="1524000"/>
          </a:xfrm>
        </p:grpSpPr>
        <p:sp>
          <p:nvSpPr>
            <p:cNvPr name="Freeform 8" id="8"/>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sp>
        <p:sp>
          <p:nvSpPr>
            <p:cNvPr name="TextBox 9" id="9"/>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grpSp>
        <p:nvGrpSpPr>
          <p:cNvPr name="Group 10" id="10"/>
          <p:cNvGrpSpPr/>
          <p:nvPr/>
        </p:nvGrpSpPr>
        <p:grpSpPr>
          <a:xfrm rot="0">
            <a:off x="1143000" y="4095750"/>
            <a:ext cx="16002000" cy="1143000"/>
            <a:chOff x="0" y="0"/>
            <a:chExt cx="21336000" cy="1524000"/>
          </a:xfrm>
        </p:grpSpPr>
        <p:sp>
          <p:nvSpPr>
            <p:cNvPr name="Freeform 11" id="11"/>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sp>
        <p:sp>
          <p:nvSpPr>
            <p:cNvPr name="TextBox 12" id="12"/>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grpSp>
        <p:nvGrpSpPr>
          <p:cNvPr name="Group 13" id="13"/>
          <p:cNvGrpSpPr/>
          <p:nvPr/>
        </p:nvGrpSpPr>
        <p:grpSpPr>
          <a:xfrm rot="0">
            <a:off x="1143000" y="5524500"/>
            <a:ext cx="16002000" cy="1143000"/>
            <a:chOff x="0" y="0"/>
            <a:chExt cx="21336000" cy="1524000"/>
          </a:xfrm>
        </p:grpSpPr>
        <p:sp>
          <p:nvSpPr>
            <p:cNvPr name="Freeform 14" id="14"/>
            <p:cNvSpPr/>
            <p:nvPr/>
          </p:nvSpPr>
          <p:spPr>
            <a:xfrm flipH="false" flipV="false" rot="0">
              <a:off x="0" y="0"/>
              <a:ext cx="21336000" cy="1524000"/>
            </a:xfrm>
            <a:custGeom>
              <a:avLst/>
              <a:gdLst/>
              <a:ahLst/>
              <a:cxnLst/>
              <a:rect r="r" b="b" t="t" l="l"/>
              <a:pathLst>
                <a:path h="1524000" w="21336000">
                  <a:moveTo>
                    <a:pt x="11611" y="0"/>
                  </a:moveTo>
                  <a:lnTo>
                    <a:pt x="21324388" y="0"/>
                  </a:lnTo>
                  <a:cubicBezTo>
                    <a:pt x="21327469" y="0"/>
                    <a:pt x="21330422" y="1223"/>
                    <a:pt x="21332599" y="3401"/>
                  </a:cubicBezTo>
                  <a:cubicBezTo>
                    <a:pt x="21334777" y="5578"/>
                    <a:pt x="21336000" y="8532"/>
                    <a:pt x="21336000" y="11611"/>
                  </a:cubicBezTo>
                  <a:lnTo>
                    <a:pt x="21336000" y="1512389"/>
                  </a:lnTo>
                  <a:cubicBezTo>
                    <a:pt x="21336000" y="1515468"/>
                    <a:pt x="21334777" y="1518422"/>
                    <a:pt x="21332599" y="1520599"/>
                  </a:cubicBezTo>
                  <a:cubicBezTo>
                    <a:pt x="21330422" y="1522777"/>
                    <a:pt x="21327469" y="1524000"/>
                    <a:pt x="21324388" y="1524000"/>
                  </a:cubicBezTo>
                  <a:lnTo>
                    <a:pt x="11611" y="1524000"/>
                  </a:lnTo>
                  <a:cubicBezTo>
                    <a:pt x="8532" y="1524000"/>
                    <a:pt x="5578" y="1522777"/>
                    <a:pt x="3401" y="1520599"/>
                  </a:cubicBezTo>
                  <a:cubicBezTo>
                    <a:pt x="1223" y="1518422"/>
                    <a:pt x="0" y="1515468"/>
                    <a:pt x="0" y="1512389"/>
                  </a:cubicBezTo>
                  <a:lnTo>
                    <a:pt x="0" y="11611"/>
                  </a:lnTo>
                  <a:cubicBezTo>
                    <a:pt x="0" y="8532"/>
                    <a:pt x="1223" y="5578"/>
                    <a:pt x="3401" y="3401"/>
                  </a:cubicBezTo>
                  <a:cubicBezTo>
                    <a:pt x="5578" y="1223"/>
                    <a:pt x="8532" y="0"/>
                    <a:pt x="11611" y="0"/>
                  </a:cubicBezTo>
                  <a:close/>
                </a:path>
              </a:pathLst>
            </a:custGeom>
            <a:solidFill>
              <a:srgbClr val="0B1F3A"/>
            </a:solidFill>
          </p:spPr>
        </p:sp>
        <p:sp>
          <p:nvSpPr>
            <p:cNvPr name="TextBox 15" id="15"/>
            <p:cNvSpPr txBox="true"/>
            <p:nvPr/>
          </p:nvSpPr>
          <p:spPr>
            <a:xfrm>
              <a:off x="0" y="-38100"/>
              <a:ext cx="21336000" cy="1562100"/>
            </a:xfrm>
            <a:prstGeom prst="rect">
              <a:avLst/>
            </a:prstGeom>
          </p:spPr>
          <p:txBody>
            <a:bodyPr anchor="ctr" rtlCol="false" tIns="50800" lIns="50800" bIns="50800" rIns="50800"/>
            <a:lstStyle/>
            <a:p>
              <a:pPr algn="l">
                <a:lnSpc>
                  <a:spcPts val="1679"/>
                </a:lnSpc>
              </a:pPr>
            </a:p>
          </p:txBody>
        </p:sp>
      </p:grpSp>
      <p:sp>
        <p:nvSpPr>
          <p:cNvPr name="TextBox 16" id="16"/>
          <p:cNvSpPr txBox="true"/>
          <p:nvPr/>
        </p:nvSpPr>
        <p:spPr>
          <a:xfrm rot="0">
            <a:off x="1619250" y="3009900"/>
            <a:ext cx="15049500" cy="440055"/>
          </a:xfrm>
          <a:prstGeom prst="rect">
            <a:avLst/>
          </a:prstGeom>
        </p:spPr>
        <p:txBody>
          <a:bodyPr anchor="t" rtlCol="false" tIns="0" lIns="0" bIns="0" rIns="0">
            <a:spAutoFit/>
          </a:bodyPr>
          <a:lstStyle/>
          <a:p>
            <a:pPr algn="l">
              <a:lnSpc>
                <a:spcPts val="3569"/>
              </a:lnSpc>
            </a:pPr>
            <a:r>
              <a:rPr lang="en-US" sz="2550">
                <a:solidFill>
                  <a:srgbClr val="F8FAFC"/>
                </a:solidFill>
                <a:latin typeface="Arimo"/>
                <a:ea typeface="Arimo"/>
                <a:cs typeface="Arimo"/>
                <a:sym typeface="Arimo"/>
              </a:rPr>
              <a:t>Sources → loaders with lineage → DuckDB ledger → deterministic engine</a:t>
            </a:r>
          </a:p>
        </p:txBody>
      </p:sp>
      <p:sp>
        <p:nvSpPr>
          <p:cNvPr name="TextBox 17" id="17"/>
          <p:cNvSpPr txBox="true"/>
          <p:nvPr/>
        </p:nvSpPr>
        <p:spPr>
          <a:xfrm rot="0">
            <a:off x="1619250" y="4438650"/>
            <a:ext cx="15049500" cy="440055"/>
          </a:xfrm>
          <a:prstGeom prst="rect">
            <a:avLst/>
          </a:prstGeom>
        </p:spPr>
        <p:txBody>
          <a:bodyPr anchor="t" rtlCol="false" tIns="0" lIns="0" bIns="0" rIns="0">
            <a:spAutoFit/>
          </a:bodyPr>
          <a:lstStyle/>
          <a:p>
            <a:pPr algn="l">
              <a:lnSpc>
                <a:spcPts val="3569"/>
              </a:lnSpc>
            </a:pPr>
            <a:r>
              <a:rPr lang="en-US" sz="2550">
                <a:solidFill>
                  <a:srgbClr val="F8FAFC"/>
                </a:solidFill>
                <a:latin typeface="Arimo"/>
                <a:ea typeface="Arimo"/>
                <a:cs typeface="Arimo"/>
                <a:sym typeface="Arimo"/>
              </a:rPr>
              <a:t>Tool registry + executor (tiers) → agent loop ↔ LLM (mock by default, redacted input)</a:t>
            </a:r>
          </a:p>
        </p:txBody>
      </p:sp>
      <p:sp>
        <p:nvSpPr>
          <p:cNvPr name="TextBox 18" id="18"/>
          <p:cNvSpPr txBox="true"/>
          <p:nvPr/>
        </p:nvSpPr>
        <p:spPr>
          <a:xfrm rot="0">
            <a:off x="1619250" y="5867400"/>
            <a:ext cx="15049500" cy="440055"/>
          </a:xfrm>
          <a:prstGeom prst="rect">
            <a:avLst/>
          </a:prstGeom>
        </p:spPr>
        <p:txBody>
          <a:bodyPr anchor="t" rtlCol="false" tIns="0" lIns="0" bIns="0" rIns="0">
            <a:spAutoFit/>
          </a:bodyPr>
          <a:lstStyle/>
          <a:p>
            <a:pPr algn="l">
              <a:lnSpc>
                <a:spcPts val="3569"/>
              </a:lnSpc>
            </a:pPr>
            <a:r>
              <a:rPr lang="en-US" sz="2550">
                <a:solidFill>
                  <a:srgbClr val="F8FAFC"/>
                </a:solidFill>
                <a:latin typeface="Arimo"/>
                <a:ea typeface="Arimo"/>
                <a:cs typeface="Arimo"/>
                <a:sym typeface="Arimo"/>
              </a:rPr>
              <a:t>Approval queue → drafts / connector sandbox → hash-chained audit</a:t>
            </a:r>
          </a:p>
        </p:txBody>
      </p:sp>
      <p:sp>
        <p:nvSpPr>
          <p:cNvPr name="TextBox 19" id="19"/>
          <p:cNvSpPr txBox="true"/>
          <p:nvPr/>
        </p:nvSpPr>
        <p:spPr>
          <a:xfrm rot="0">
            <a:off x="1143000" y="7362825"/>
            <a:ext cx="16002000" cy="474345"/>
          </a:xfrm>
          <a:prstGeom prst="rect">
            <a:avLst/>
          </a:prstGeom>
        </p:spPr>
        <p:txBody>
          <a:bodyPr anchor="t" rtlCol="false" tIns="0" lIns="0" bIns="0" rIns="0">
            <a:spAutoFit/>
          </a:bodyPr>
          <a:lstStyle/>
          <a:p>
            <a:pPr algn="l">
              <a:lnSpc>
                <a:spcPts val="3779"/>
              </a:lnSpc>
            </a:pPr>
            <a:r>
              <a:rPr lang="en-US" sz="2700" b="true">
                <a:solidFill>
                  <a:srgbClr val="14B8A6"/>
                </a:solidFill>
                <a:latin typeface="Arimo Bold"/>
                <a:ea typeface="Arimo Bold"/>
                <a:cs typeface="Arimo Bold"/>
                <a:sym typeface="Arimo Bold"/>
              </a:rPr>
              <a:t>FastAPI backend | Next.js owner app | about 240 tests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B1F3A"/>
        </a:solidFill>
      </p:bgPr>
    </p:bg>
    <p:spTree>
      <p:nvGrpSpPr>
        <p:cNvPr id="1" name=""/>
        <p:cNvGrpSpPr/>
        <p:nvPr/>
      </p:nvGrpSpPr>
      <p:grpSpPr>
        <a:xfrm>
          <a:off x="0" y="0"/>
          <a:ext cx="0" cy="0"/>
          <a:chOff x="0" y="0"/>
          <a:chExt cx="0" cy="0"/>
        </a:xfrm>
      </p:grpSpPr>
      <p:grpSp>
        <p:nvGrpSpPr>
          <p:cNvPr name="Group 2" id="2"/>
          <p:cNvGrpSpPr/>
          <p:nvPr/>
        </p:nvGrpSpPr>
        <p:grpSpPr>
          <a:xfrm rot="0">
            <a:off x="1143000" y="2667000"/>
            <a:ext cx="1143000" cy="76200"/>
            <a:chOff x="0" y="0"/>
            <a:chExt cx="1524000" cy="101600"/>
          </a:xfrm>
        </p:grpSpPr>
        <p:sp>
          <p:nvSpPr>
            <p:cNvPr name="Freeform 3" id="3"/>
            <p:cNvSpPr/>
            <p:nvPr/>
          </p:nvSpPr>
          <p:spPr>
            <a:xfrm flipH="false" flipV="false" rot="0">
              <a:off x="0" y="0"/>
              <a:ext cx="1524000" cy="101600"/>
            </a:xfrm>
            <a:custGeom>
              <a:avLst/>
              <a:gdLst/>
              <a:ahLst/>
              <a:cxnLst/>
              <a:rect r="r" b="b" t="t" l="l"/>
              <a:pathLst>
                <a:path h="101600" w="1524000">
                  <a:moveTo>
                    <a:pt x="0" y="0"/>
                  </a:moveTo>
                  <a:lnTo>
                    <a:pt x="1524000" y="0"/>
                  </a:lnTo>
                  <a:lnTo>
                    <a:pt x="1524000" y="101600"/>
                  </a:lnTo>
                  <a:lnTo>
                    <a:pt x="0" y="101600"/>
                  </a:lnTo>
                  <a:close/>
                </a:path>
              </a:pathLst>
            </a:custGeom>
            <a:solidFill>
              <a:srgbClr val="14B8A6"/>
            </a:solidFill>
            <a:ln cap="sq">
              <a:noFill/>
              <a:prstDash val="solid"/>
              <a:miter/>
            </a:ln>
          </p:spPr>
        </p:sp>
        <p:sp>
          <p:nvSpPr>
            <p:cNvPr name="TextBox 4" id="4"/>
            <p:cNvSpPr txBox="true"/>
            <p:nvPr/>
          </p:nvSpPr>
          <p:spPr>
            <a:xfrm>
              <a:off x="0" y="-38100"/>
              <a:ext cx="1524000" cy="1397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143000" y="3257550"/>
            <a:ext cx="12858750" cy="1072896"/>
          </a:xfrm>
          <a:prstGeom prst="rect">
            <a:avLst/>
          </a:prstGeom>
        </p:spPr>
        <p:txBody>
          <a:bodyPr anchor="t" rtlCol="false" tIns="0" lIns="0" bIns="0" rIns="0">
            <a:spAutoFit/>
          </a:bodyPr>
          <a:lstStyle/>
          <a:p>
            <a:pPr algn="l">
              <a:lnSpc>
                <a:spcPts val="8112"/>
              </a:lnSpc>
            </a:pPr>
            <a:r>
              <a:rPr lang="en-US" sz="7800" b="true">
                <a:solidFill>
                  <a:srgbClr val="F8FAFC"/>
                </a:solidFill>
                <a:latin typeface="Inter Bold"/>
                <a:ea typeface="Inter Bold"/>
                <a:cs typeface="Inter Bold"/>
                <a:sym typeface="Inter Bold"/>
              </a:rPr>
              <a:t>Roadmap and ask</a:t>
            </a:r>
          </a:p>
        </p:txBody>
      </p:sp>
      <p:sp>
        <p:nvSpPr>
          <p:cNvPr name="TextBox 6" id="6"/>
          <p:cNvSpPr txBox="true"/>
          <p:nvPr/>
        </p:nvSpPr>
        <p:spPr>
          <a:xfrm rot="0">
            <a:off x="16668750" y="9229725"/>
            <a:ext cx="666750" cy="291465"/>
          </a:xfrm>
          <a:prstGeom prst="rect">
            <a:avLst/>
          </a:prstGeom>
        </p:spPr>
        <p:txBody>
          <a:bodyPr anchor="t" rtlCol="false" tIns="0" lIns="0" bIns="0" rIns="0">
            <a:spAutoFit/>
          </a:bodyPr>
          <a:lstStyle/>
          <a:p>
            <a:pPr algn="r">
              <a:lnSpc>
                <a:spcPts val="2310"/>
              </a:lnSpc>
            </a:pPr>
            <a:r>
              <a:rPr lang="en-US" sz="1650" b="true">
                <a:solidFill>
                  <a:srgbClr val="F8FAFC"/>
                </a:solidFill>
                <a:latin typeface="Inter Bold"/>
                <a:ea typeface="Inter Bold"/>
                <a:cs typeface="Inter Bold"/>
                <a:sym typeface="Inter Bold"/>
              </a:rPr>
              <a:t>11</a:t>
            </a:r>
          </a:p>
        </p:txBody>
      </p:sp>
      <p:sp>
        <p:nvSpPr>
          <p:cNvPr name="TextBox 7" id="7"/>
          <p:cNvSpPr txBox="true"/>
          <p:nvPr/>
        </p:nvSpPr>
        <p:spPr>
          <a:xfrm rot="0">
            <a:off x="1143000" y="4800600"/>
            <a:ext cx="15240000" cy="2684145"/>
          </a:xfrm>
          <a:prstGeom prst="rect">
            <a:avLst/>
          </a:prstGeom>
        </p:spPr>
        <p:txBody>
          <a:bodyPr anchor="t" rtlCol="false" tIns="0" lIns="0" bIns="0" rIns="0">
            <a:spAutoFit/>
          </a:bodyPr>
          <a:lstStyle/>
          <a:p>
            <a:pPr algn="l" marL="518160" indent="-259080" lvl="1">
              <a:lnSpc>
                <a:spcPts val="4320"/>
              </a:lnSpc>
              <a:buFont typeface="Arial"/>
              <a:buChar char="•"/>
            </a:pPr>
            <a:r>
              <a:rPr lang="en-US" sz="2400">
                <a:solidFill>
                  <a:srgbClr val="F8FAFC"/>
                </a:solidFill>
                <a:latin typeface="Arimo"/>
                <a:ea typeface="Arimo"/>
                <a:cs typeface="Arimo"/>
                <a:sym typeface="Arimo"/>
              </a:rPr>
              <a:t>Now: sandbox connectors (QuickBooks, files, Sheets, POS), 3 demo SMEs</a:t>
            </a:r>
          </a:p>
          <a:p>
            <a:pPr algn="l" marL="518160" indent="-259080" lvl="1">
              <a:lnSpc>
                <a:spcPts val="4320"/>
              </a:lnSpc>
              <a:buFont typeface="Arial"/>
              <a:buChar char="•"/>
            </a:pPr>
            <a:r>
              <a:rPr lang="en-US" sz="2400">
                <a:solidFill>
                  <a:srgbClr val="F8FAFC"/>
                </a:solidFill>
                <a:latin typeface="Arimo"/>
                <a:ea typeface="Arimo"/>
                <a:cs typeface="Arimo"/>
                <a:sym typeface="Arimo"/>
              </a:rPr>
              <a:t>Next: more connectors and bank feeds, per-user auth and tenant isolation, OCR for paper documents</a:t>
            </a:r>
          </a:p>
          <a:p>
            <a:pPr algn="l" marL="518160" indent="-259080" lvl="1">
              <a:lnSpc>
                <a:spcPts val="4320"/>
              </a:lnSpc>
              <a:buFont typeface="Arial"/>
              <a:buChar char="•"/>
            </a:pPr>
            <a:r>
              <a:rPr lang="en-US" sz="2400">
                <a:solidFill>
                  <a:srgbClr val="F8FAFC"/>
                </a:solidFill>
                <a:latin typeface="Arimo"/>
                <a:ea typeface="Arimo"/>
                <a:cs typeface="Arimo"/>
                <a:sym typeface="Arimo"/>
              </a:rPr>
              <a:t>Private self-hosted mode with a local model: no data leaves the business</a:t>
            </a:r>
          </a:p>
          <a:p>
            <a:pPr algn="l" marL="518160" indent="-259080" lvl="1">
              <a:lnSpc>
                <a:spcPts val="4320"/>
              </a:lnSpc>
              <a:buFont typeface="Arial"/>
              <a:buChar char="•"/>
            </a:pPr>
            <a:r>
              <a:rPr lang="en-US" sz="2400">
                <a:solidFill>
                  <a:srgbClr val="F8FAFC"/>
                </a:solidFill>
                <a:latin typeface="Arimo"/>
                <a:ea typeface="Arimo"/>
                <a:cs typeface="Arimo"/>
                <a:sym typeface="Arimo"/>
              </a:rPr>
              <a:t>Team [TBD] | Ask: feedback and a pilot partner</a:t>
            </a:r>
          </a:p>
          <a:p>
            <a:pPr algn="l" marL="518160" indent="-259080" lvl="1">
              <a:lnSpc>
                <a:spcPts val="4320"/>
              </a:lnSpc>
              <a:buFont typeface="Arial"/>
              <a:buChar char="•"/>
            </a:pPr>
            <a:r>
              <a:rPr lang="en-US" sz="2400">
                <a:solidFill>
                  <a:srgbClr val="F8FAFC"/>
                </a:solidFill>
                <a:latin typeface="Arimo"/>
                <a:ea typeface="Arimo"/>
                <a:cs typeface="Arimo"/>
                <a:sym typeface="Arimo"/>
              </a:rPr>
              <a:t>Code, docs and evidence are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DAHYjQw9lVE</dc:identifier>
  <dcterms:modified xsi:type="dcterms:W3CDTF">2011-08-01T06:04:30Z</dcterms:modified>
  <cp:revision>1</cp:revision>
  <dc:title>SME Finance Copilot</dc:title>
</cp:coreProperties>
</file>